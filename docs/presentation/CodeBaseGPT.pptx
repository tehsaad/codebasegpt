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3c6d9e62-1cfe-ef56-153b-ad941abffe39}">
          <p14:sldIdLst>
            <p14:sldId id="256"/>
            <p14:sldId id="257"/>
            <p14:sldId id="258"/>
          </p14:sldIdLst>
        </p14:section>
        <p14:section name="Product" id="{23b8df81-5feb-2a0e-dadb-c6f206c7b98c}">
          <p14:sldIdLst>
            <p14:sldId id="259"/>
            <p14:sldId id="260"/>
            <p14:sldId id="261"/>
            <p14:sldId id="262"/>
            <p14:sldId id="263"/>
            <p14:sldId id="264"/>
          </p14:sldIdLst>
        </p14:section>
        <p14:section name="Under the hood" id="{10d0aef2-977d-458b-11e4-c647a16ac64b}">
          <p14:sldIdLst>
            <p14:sldId id="265"/>
            <p14:sldId id="266"/>
            <p14:sldId id="267"/>
          </p14:sldIdLst>
        </p14:section>
        <p14:section name="Close" id="{177dee93-7c36-08ef-1354-43f5c6d3aa21}">
          <p14:sldIdLst>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CodeBaseGPT helps students and developers understand unfamiliar repositories. The animated graph is the Atlas idea: folders as nodes, imports as edges. Four tools: Atlas, Ask, Impact and the Code Tutor. Live at codebasegpt.vercel.app.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questions every newcomer to a codebase asks. The rest of the deck shows how CodeBaseGPT answers each one using the repository’s own code, not guesses.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works on one indexed copy of the repository. Atlas for structure, Ask for cited answers, I’m stuck for debugging with web research, Change impact before editing, the Guide and Learning path for onboarding, and the Code Tutor for running and fixing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Import from GitHub or a ZIP, with secrets and binaries filtered out. Tree-sitter parses six languages into files, symbols, imports and calls. Everything is indexed in Postgres with full-text search. Then you explore.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Atlas is built from the index, not drawn by the AI. Selecting session.ts shows what it depends on and what uses it, each with the exact import line. Screenshot from a local build using the project’s test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retrieves code first, then Gemma answers only from that evidence. Every citation label is validated: real ones open the exact lines, invented ones are struck through. I’m stuck combines a stack trace, the related code and Tavily web 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Pick any file or function. CodeBaseGPT walks the import graph backwards to find everything that depends on it, shows how each dependent reaches it, and separates evidence it extracted from guesses it inferred.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guide’s side panel comes straight from the index: languages, entry points, most depended-on files. Gemma writes the narrative, with every claim cited. The learning path is built from the real dependency graph, and notes are flagged as possibly stale when their file changes on re-import.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run code in an isolated Vercel Sandbox. The tutor reads the real compiler output and exit code, teaches with a hint first, then proposes a fix as a diff. Applying it and re-running shows Verified or Not fixed yet. Screenshots use a test stand-in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single Next.js 16 app on Vercel handles sign-in, the API and indexing. It talks to Neon Postgres through Drizzle, Gemma 4 through Google AI Studio, Tavily for web search, Vercel Sandbox for running code, Resend for email, and GitHub for imports and sign-in.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Isolation is enforced on the server for every request, not just in the UI. Rate limits live in Postgres so they hold across serverless instances. Repository content is treated as untrusted data in every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number here was run, not estimated: 104 unit and integration tests, 14 Playwright browser tests including one that runs real code in Vercel Sandbox, and an axe WCAG 2.1 AA scan with zero violations on key pages in both light and dark themes.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at codebasegpt.vercel.app.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0B0D07"/>
        </a:solidFill>
      </p:bgPr>
    </p:bg>
    <p:spTree>
      <p:nvGrpSpPr>
        <p:cNvPr id="1" name=""/>
        <p:cNvGrpSpPr/>
        <p:nvPr/>
      </p:nvGrpSpPr>
      <p:grpSpPr>
        <a:xfrm>
          <a:off x="0" y="0"/>
          <a:ext cx="0" cy="0"/>
          <a:chOff x="0" y="0"/>
          <a:chExt cx="0" cy="0"/>
        </a:xfrm>
      </p:grpSpPr>
      <p:sp>
        <p:nvSpPr>
          <p:cNvPr id="2" name="Text 0"/>
          <p:cNvSpPr/>
          <p:nvPr/>
        </p:nvSpPr>
        <p:spPr>
          <a:xfrm>
            <a:off x="548640" y="4736592"/>
            <a:ext cx="3657600" cy="228600"/>
          </a:xfrm>
          <a:prstGeom prst="rect">
            <a:avLst/>
          </a:prstGeom>
          <a:noFill/>
          <a:ln/>
        </p:spPr>
        <p:txBody>
          <a:bodyPr wrap="square" lIns="0" tIns="0" rIns="0" bIns="0" rtlCol="0" anchor="ctr"/>
          <a:lstStyle/>
          <a:p>
            <a:pPr indent="0" marL="0">
              <a:buNone/>
            </a:pPr>
            <a:r>
              <a:rPr lang="en-US" sz="1000" dirty="0">
                <a:solidFill>
                  <a:srgbClr val="85857F"/>
                </a:solidFill>
                <a:latin typeface="Courier New" pitchFamily="34" charset="0"/>
                <a:ea typeface="Courier New" pitchFamily="34" charset="-122"/>
                <a:cs typeface="Courier New" pitchFamily="34" charset="-120"/>
              </a:rPr>
              <a:t>codebasegpt.vercel.app</a:t>
            </a:r>
            <a:endParaRPr lang="en-US" sz="1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Dark">
    <p:bg>
      <p:bgPr>
        <a:solidFill>
          <a:srgbClr val="050505"/>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046720" cy="237744"/>
          </a:xfrm>
          <a:prstGeom prst="rect">
            <a:avLst/>
          </a:prstGeom>
          <a:noFill/>
          <a:ln/>
        </p:spPr>
        <p:txBody>
          <a:bodyPr wrap="square" rtlCol="0"/>
          <a:lstStyle>
            <a:lvl1pPr algn="l" indent="0" marL="0">
              <a:buNone/>
              <a:defRPr lang="en-US" sz="1100" spc="300" kern="0" dirty="0">
                <a:solidFill>
                  <a:schemeClr val="accent1"/>
                </a:solidFill>
                <a:latin typeface="Courier New" pitchFamily="34" charset="0"/>
                <a:ea typeface="Courier New" pitchFamily="34" charset="-122"/>
                <a:cs typeface="Courier New" pitchFamily="34" charset="-120"/>
              </a:defRPr>
            </a:lvl1pPr>
          </a:lstStyle>
          <a:p>
            <a:pPr algn="l" indent="0" marL="0">
              <a:buNone/>
            </a:pPr>
            <a:endParaRPr lang="en-US" sz="1100" dirty="0"/>
          </a:p>
        </p:txBody>
      </p:sp>
      <p:sp>
        <p:nvSpPr>
          <p:cNvPr id="3" name="Text 0"/>
          <p:cNvSpPr/>
          <p:nvPr>
            <p:ph idx="101" type="title" hasCustomPrompt="1"/>
          </p:nvPr>
        </p:nvSpPr>
        <p:spPr>
          <a:xfrm>
            <a:off x="548640" y="548640"/>
            <a:ext cx="8046720" cy="566928"/>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4" name="Text 0"/>
          <p:cNvSpPr/>
          <p:nvPr/>
        </p:nvSpPr>
        <p:spPr>
          <a:xfrm>
            <a:off x="548640" y="4736592"/>
            <a:ext cx="3657600" cy="228600"/>
          </a:xfrm>
          <a:prstGeom prst="rect">
            <a:avLst/>
          </a:prstGeom>
          <a:noFill/>
          <a:ln/>
        </p:spPr>
        <p:txBody>
          <a:bodyPr wrap="square" lIns="0" tIns="0" rIns="0" bIns="0" rtlCol="0" anchor="ctr"/>
          <a:lstStyle/>
          <a:p>
            <a:pPr indent="0" marL="0">
              <a:buNone/>
            </a:pPr>
            <a:r>
              <a:rPr lang="en-US" sz="1000" dirty="0">
                <a:solidFill>
                  <a:srgbClr val="85857F"/>
                </a:solidFill>
                <a:latin typeface="Courier New" pitchFamily="34" charset="0"/>
                <a:ea typeface="Courier New" pitchFamily="34" charset="-122"/>
                <a:cs typeface="Courier New" pitchFamily="34" charset="-120"/>
              </a:rPr>
              <a:t>codebasegpt.vercel.app</a:t>
            </a:r>
            <a:endParaRPr lang="en-US" sz="1000" dirty="0"/>
          </a:p>
        </p:txBody>
      </p:sp>
      <p:sp>
        <p:nvSpPr>
          <p:cNvPr id="25" name="Slide Number Placeholder 0"/>
          <p:cNvSpPr>
            <a:spLocks noGrp="1"/>
          </p:cNvSpPr>
          <p:nvPr>
            <p:ph type="sldNum" sz="quarter" idx="4294967295"/>
          </p:nvPr>
        </p:nvSpPr>
        <p:spPr>
          <a:xfrm>
            <a:off x="8138160" y="473659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5857F"/>
                </a:solidFill>
                <a:latin typeface="Courier New"/>
                <a:ea typeface="Courier New"/>
                <a:cs typeface="Courier New"/>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anel">
    <p:bg>
      <p:bgPr>
        <a:solidFill>
          <a:srgbClr val="0C0C0C"/>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046720" cy="237744"/>
          </a:xfrm>
          <a:prstGeom prst="rect">
            <a:avLst/>
          </a:prstGeom>
          <a:noFill/>
          <a:ln/>
        </p:spPr>
        <p:txBody>
          <a:bodyPr wrap="square" rtlCol="0"/>
          <a:lstStyle>
            <a:lvl1pPr algn="l" indent="0" marL="0">
              <a:buNone/>
              <a:defRPr lang="en-US" sz="1100" spc="300" kern="0" dirty="0">
                <a:solidFill>
                  <a:schemeClr val="accent1"/>
                </a:solidFill>
                <a:latin typeface="Courier New" pitchFamily="34" charset="0"/>
                <a:ea typeface="Courier New" pitchFamily="34" charset="-122"/>
                <a:cs typeface="Courier New" pitchFamily="34" charset="-120"/>
              </a:defRPr>
            </a:lvl1pPr>
          </a:lstStyle>
          <a:p>
            <a:pPr algn="l" indent="0" marL="0">
              <a:buNone/>
            </a:pPr>
            <a:endParaRPr lang="en-US" sz="1100" dirty="0"/>
          </a:p>
        </p:txBody>
      </p:sp>
      <p:sp>
        <p:nvSpPr>
          <p:cNvPr id="3" name="Text 0"/>
          <p:cNvSpPr/>
          <p:nvPr>
            <p:ph idx="101" type="title" hasCustomPrompt="1"/>
          </p:nvPr>
        </p:nvSpPr>
        <p:spPr>
          <a:xfrm>
            <a:off x="548640" y="548640"/>
            <a:ext cx="8046720" cy="566928"/>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4" name="Text 0"/>
          <p:cNvSpPr/>
          <p:nvPr/>
        </p:nvSpPr>
        <p:spPr>
          <a:xfrm>
            <a:off x="548640" y="4736592"/>
            <a:ext cx="3657600" cy="228600"/>
          </a:xfrm>
          <a:prstGeom prst="rect">
            <a:avLst/>
          </a:prstGeom>
          <a:noFill/>
          <a:ln/>
        </p:spPr>
        <p:txBody>
          <a:bodyPr wrap="square" lIns="0" tIns="0" rIns="0" bIns="0" rtlCol="0" anchor="ctr"/>
          <a:lstStyle/>
          <a:p>
            <a:pPr indent="0" marL="0">
              <a:buNone/>
            </a:pPr>
            <a:r>
              <a:rPr lang="en-US" sz="1000" dirty="0">
                <a:solidFill>
                  <a:srgbClr val="85857F"/>
                </a:solidFill>
                <a:latin typeface="Courier New" pitchFamily="34" charset="0"/>
                <a:ea typeface="Courier New" pitchFamily="34" charset="-122"/>
                <a:cs typeface="Courier New" pitchFamily="34" charset="-120"/>
              </a:rPr>
              <a:t>codebasegpt.vercel.app</a:t>
            </a:r>
            <a:endParaRPr lang="en-US" sz="1000" dirty="0"/>
          </a:p>
        </p:txBody>
      </p:sp>
      <p:sp>
        <p:nvSpPr>
          <p:cNvPr id="25" name="Slide Number Placeholder 0"/>
          <p:cNvSpPr>
            <a:spLocks noGrp="1"/>
          </p:cNvSpPr>
          <p:nvPr>
            <p:ph type="sldNum" sz="quarter" idx="4294967295"/>
          </p:nvPr>
        </p:nvSpPr>
        <p:spPr>
          <a:xfrm>
            <a:off x="8138160" y="473659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5857F"/>
                </a:solidFill>
                <a:latin typeface="Courier New"/>
                <a:ea typeface="Courier New"/>
                <a:cs typeface="Courier New"/>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tatement Lime">
    <p:bg>
      <p:bgPr>
        <a:solidFill>
          <a:srgbClr val="C8F135"/>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046720" cy="237744"/>
          </a:xfrm>
          <a:prstGeom prst="rect">
            <a:avLst/>
          </a:prstGeom>
          <a:noFill/>
          <a:ln/>
        </p:spPr>
        <p:txBody>
          <a:bodyPr wrap="square" rtlCol="0"/>
          <a:lstStyle>
            <a:lvl1pPr algn="l" indent="0" marL="0">
              <a:buNone/>
              <a:defRPr lang="en-US" sz="1100" spc="300" kern="0" dirty="0">
                <a:solidFill>
                  <a:schemeClr val="tx1"/>
                </a:solidFill>
                <a:latin typeface="Courier New" pitchFamily="34" charset="0"/>
                <a:ea typeface="Courier New" pitchFamily="34" charset="-122"/>
                <a:cs typeface="Courier New" pitchFamily="34" charset="-120"/>
              </a:defRPr>
            </a:lvl1pPr>
          </a:lstStyle>
          <a:p>
            <a:pPr algn="l" indent="0" marL="0">
              <a:buNone/>
            </a:pPr>
            <a:endParaRPr lang="en-US" sz="1100" dirty="0"/>
          </a:p>
        </p:txBody>
      </p:sp>
      <p:sp>
        <p:nvSpPr>
          <p:cNvPr id="3" name="Text 0"/>
          <p:cNvSpPr/>
          <p:nvPr>
            <p:ph idx="101" type="title" hasCustomPrompt="1"/>
          </p:nvPr>
        </p:nvSpPr>
        <p:spPr>
          <a:xfrm>
            <a:off x="548640" y="548640"/>
            <a:ext cx="8046720" cy="566928"/>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4" name="Text 0"/>
          <p:cNvSpPr/>
          <p:nvPr/>
        </p:nvSpPr>
        <p:spPr>
          <a:xfrm>
            <a:off x="548640" y="4736592"/>
            <a:ext cx="3657600" cy="228600"/>
          </a:xfrm>
          <a:prstGeom prst="rect">
            <a:avLst/>
          </a:prstGeom>
          <a:noFill/>
          <a:ln/>
        </p:spPr>
        <p:txBody>
          <a:bodyPr wrap="square" lIns="0" tIns="0" rIns="0" bIns="0" rtlCol="0" anchor="ctr"/>
          <a:lstStyle/>
          <a:p>
            <a:pPr indent="0" marL="0">
              <a:buNone/>
            </a:pPr>
            <a:r>
              <a:rPr lang="en-US" sz="1000" dirty="0">
                <a:solidFill>
                  <a:srgbClr val="3A4712"/>
                </a:solidFill>
                <a:latin typeface="Courier New" pitchFamily="34" charset="0"/>
                <a:ea typeface="Courier New" pitchFamily="34" charset="-122"/>
                <a:cs typeface="Courier New" pitchFamily="34" charset="-120"/>
              </a:rPr>
              <a:t>codebasegpt.vercel.app</a:t>
            </a:r>
            <a:endParaRPr lang="en-US" sz="1000" dirty="0"/>
          </a:p>
        </p:txBody>
      </p:sp>
      <p:sp>
        <p:nvSpPr>
          <p:cNvPr id="25" name="Slide Number Placeholder 0"/>
          <p:cNvSpPr>
            <a:spLocks noGrp="1"/>
          </p:cNvSpPr>
          <p:nvPr>
            <p:ph type="sldNum" sz="quarter" idx="4294967295"/>
          </p:nvPr>
        </p:nvSpPr>
        <p:spPr>
          <a:xfrm>
            <a:off x="8138160" y="473659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3A4712"/>
                </a:solidFill>
                <a:latin typeface="Courier New"/>
                <a:ea typeface="Courier New"/>
                <a:cs typeface="Courier New"/>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138160" y="473659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5857F"/>
                </a:solidFill>
                <a:latin typeface="Courier New"/>
                <a:ea typeface="Courier New"/>
                <a:cs typeface="Courier New"/>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gif"/><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4.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3.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gif"/><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gif"/><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4.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gif"/><Relationship Id="rId2" Type="http://schemas.openxmlformats.org/officeDocument/2006/relationships/image" Target="../media/image-9-2.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3.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2" Type="http://schemas.openxmlformats.org/officeDocument/2006/relationships/hyperlink" Target="https://codebasegpt.vercel.app" TargetMode="External"/><Relationship Id="rId1" Type="http://schemas.openxmlformats.org/officeDocument/2006/relationships/image" Target="../media/image-13-1.gif"/><Relationship Id="rId3" Type="http://schemas.openxmlformats.org/officeDocument/2006/relationships/slideLayout" Target="../slideLayouts/slideLayout2.xml"/><Relationship Id="rId4"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gif-cover" descr="Animated graph of a repository’s folders connected by imports">    </p:cNvPr>
          <p:cNvPicPr>
            <a:picLocks noChangeAspect="1"/>
          </p:cNvPicPr>
          <p:nvPr/>
        </p:nvPicPr>
        <p:blipFill>
          <a:blip r:embed="rId1"/>
          <a:stretch>
            <a:fillRect/>
          </a:stretch>
        </p:blipFill>
        <p:spPr>
          <a:xfrm>
            <a:off x="4892040" y="502920"/>
            <a:ext cx="3749040" cy="3749040"/>
          </a:xfrm>
          <a:prstGeom prst="rect">
            <a:avLst/>
          </a:prstGeom>
        </p:spPr>
      </p:pic>
      <p:sp>
        <p:nvSpPr>
          <p:cNvPr id="3" name="anim-01"/>
          <p:cNvSpPr txBox="1"/>
          <p:nvPr/>
        </p:nvSpPr>
        <p:spPr>
          <a:xfrm>
            <a:off x="548640" y="868680"/>
            <a:ext cx="4389120" cy="274320"/>
          </a:xfrm>
          <a:prstGeom prst="rect">
            <a:avLst/>
          </a:prstGeom>
          <a:noFill/>
          <a:ln/>
        </p:spPr>
        <p:txBody>
          <a:bodyPr wrap="square" lIns="0" tIns="0" rIns="0" bIns="0" rtlCol="0" anchor="ctr"/>
          <a:lstStyle/>
          <a:p>
            <a:pPr indent="0" marL="0">
              <a:buNone/>
            </a:pPr>
            <a:r>
              <a:rPr lang="en-US" sz="1200" spc="300" kern="0" dirty="0">
                <a:solidFill>
                  <a:schemeClr val="accent1"/>
                </a:solidFill>
                <a:latin typeface="Courier New" pitchFamily="34" charset="0"/>
                <a:ea typeface="Courier New" pitchFamily="34" charset="-122"/>
                <a:cs typeface="Courier New" pitchFamily="34" charset="-120"/>
              </a:rPr>
              <a:t>CODEBASE INTELLIGENCE · GEMMA 4</a:t>
            </a:r>
            <a:endParaRPr lang="en-US" sz="1200" dirty="0"/>
          </a:p>
        </p:txBody>
      </p:sp>
      <p:sp>
        <p:nvSpPr>
          <p:cNvPr id="4" name="anim-02"/>
          <p:cNvSpPr txBox="1"/>
          <p:nvPr/>
        </p:nvSpPr>
        <p:spPr>
          <a:xfrm>
            <a:off x="548640" y="1234440"/>
            <a:ext cx="4297680" cy="685800"/>
          </a:xfrm>
          <a:prstGeom prst="rect">
            <a:avLst/>
          </a:prstGeom>
          <a:noFill/>
          <a:ln/>
        </p:spPr>
        <p:txBody>
          <a:bodyPr wrap="square" lIns="0" tIns="0" rIns="0" bIns="0" rtlCol="0" anchor="t"/>
          <a:lstStyle/>
          <a:p>
            <a:pPr indent="0" marL="0">
              <a:buNone/>
            </a:pPr>
            <a:r>
              <a:rPr lang="en-US" sz="4400" b="1" dirty="0">
                <a:solidFill>
                  <a:schemeClr val="bg1"/>
                </a:solidFill>
              </a:rPr>
              <a:t>Code</a:t>
            </a:r>
            <a:pPr indent="0" marL="0">
              <a:buNone/>
            </a:pPr>
            <a:r>
              <a:rPr lang="en-US" sz="4400" b="1" dirty="0">
                <a:solidFill>
                  <a:schemeClr val="accent1"/>
                </a:solidFill>
              </a:rPr>
              <a:t>Base</a:t>
            </a:r>
            <a:pPr indent="0" marL="0">
              <a:buNone/>
            </a:pPr>
            <a:r>
              <a:rPr lang="en-US" sz="4400" b="1" dirty="0">
                <a:solidFill>
                  <a:schemeClr val="bg1"/>
                </a:solidFill>
              </a:rPr>
              <a:t>GPT</a:t>
            </a:r>
            <a:endParaRPr lang="en-US" sz="4400" dirty="0"/>
          </a:p>
        </p:txBody>
      </p:sp>
      <p:sp>
        <p:nvSpPr>
          <p:cNvPr id="5" name="anim-03"/>
          <p:cNvSpPr txBox="1"/>
          <p:nvPr/>
        </p:nvSpPr>
        <p:spPr>
          <a:xfrm>
            <a:off x="548640" y="2011680"/>
            <a:ext cx="4389120" cy="457200"/>
          </a:xfrm>
          <a:prstGeom prst="rect">
            <a:avLst/>
          </a:prstGeom>
          <a:noFill/>
          <a:ln/>
        </p:spPr>
        <p:txBody>
          <a:bodyPr wrap="square" lIns="0" tIns="0" rIns="0" bIns="0" rtlCol="0" anchor="ctr"/>
          <a:lstStyle/>
          <a:p>
            <a:pPr indent="0" marL="0">
              <a:buNone/>
            </a:pPr>
            <a:r>
              <a:rPr lang="en-US" sz="2600" b="1" dirty="0">
                <a:solidFill>
                  <a:schemeClr val="bg1"/>
                </a:solidFill>
              </a:rPr>
              <a:t>Understand any codebase.</a:t>
            </a:r>
            <a:endParaRPr lang="en-US" sz="2600" dirty="0"/>
          </a:p>
        </p:txBody>
      </p:sp>
      <p:sp>
        <p:nvSpPr>
          <p:cNvPr id="6" name="anim-04"/>
          <p:cNvSpPr txBox="1"/>
          <p:nvPr/>
        </p:nvSpPr>
        <p:spPr>
          <a:xfrm>
            <a:off x="548640" y="2487168"/>
            <a:ext cx="4389120" cy="365760"/>
          </a:xfrm>
          <a:prstGeom prst="rect">
            <a:avLst/>
          </a:prstGeom>
          <a:noFill/>
          <a:ln/>
        </p:spPr>
        <p:txBody>
          <a:bodyPr wrap="square" lIns="0" tIns="0" rIns="0" bIns="0" rtlCol="0" anchor="ctr"/>
          <a:lstStyle/>
          <a:p>
            <a:pPr indent="0" marL="0">
              <a:buNone/>
            </a:pPr>
            <a:r>
              <a:rPr lang="en-US" sz="2000" b="1" dirty="0">
                <a:solidFill>
                  <a:schemeClr val="accent1"/>
                </a:solidFill>
              </a:rPr>
              <a:t>Every answer cites its code.</a:t>
            </a:r>
            <a:endParaRPr lang="en-US" sz="2000" dirty="0"/>
          </a:p>
        </p:txBody>
      </p:sp>
      <p:sp>
        <p:nvSpPr>
          <p:cNvPr id="7" name="anim-05"/>
          <p:cNvSpPr txBox="1"/>
          <p:nvPr/>
        </p:nvSpPr>
        <p:spPr>
          <a:xfrm>
            <a:off x="548640" y="2971800"/>
            <a:ext cx="4114800" cy="868680"/>
          </a:xfrm>
          <a:prstGeom prst="rect">
            <a:avLst/>
          </a:prstGeom>
          <a:noFill/>
          <a:ln/>
        </p:spPr>
        <p:txBody>
          <a:bodyPr wrap="square" lIns="0" tIns="0" rIns="0" bIns="0" rtlCol="0" anchor="t"/>
          <a:lstStyle/>
          <a:p>
            <a:pPr indent="0" marL="0">
              <a:buNone/>
            </a:pPr>
            <a:r>
              <a:rPr lang="en-US" sz="1400" dirty="0">
                <a:solidFill>
                  <a:schemeClr val="bg2"/>
                </a:solidFill>
              </a:rPr>
              <a:t>Import a GitHub repository or ZIP, explore it as a live map, ask questions answered with file-and-line citations, and debug real code in a sandbox.</a:t>
            </a:r>
            <a:endParaRPr lang="en-US" sz="1400" dirty="0"/>
          </a:p>
        </p:txBody>
      </p:sp>
      <p:sp>
        <p:nvSpPr>
          <p:cNvPr id="8" name="anim-06-0"/>
          <p:cNvSpPr/>
          <p:nvPr/>
        </p:nvSpPr>
        <p:spPr>
          <a:xfrm>
            <a:off x="548640" y="3977640"/>
            <a:ext cx="841248" cy="329184"/>
          </a:xfrm>
          <a:prstGeom prst="roundRect">
            <a:avLst>
              <a:gd name="adj" fmla="val 50000"/>
            </a:avLst>
          </a:prstGeom>
          <a:solidFill>
            <a:schemeClr val="accent1"/>
          </a:solidFill>
          <a:ln w="12700">
            <a:solidFill>
              <a:schemeClr val="accent1"/>
            </a:solidFill>
          </a:ln>
        </p:spPr>
        <p:txBody>
          <a:bodyPr wrap="square" lIns="0" tIns="0" rIns="0" bIns="0" rtlCol="0" anchor="ctr"/>
          <a:lstStyle/>
          <a:p>
            <a:pPr algn="ctr" indent="0" marL="0">
              <a:buNone/>
            </a:pPr>
            <a:r>
              <a:rPr lang="en-US" sz="1200" dirty="0">
                <a:solidFill>
                  <a:schemeClr val="tx1"/>
                </a:solidFill>
                <a:latin typeface="Courier New" pitchFamily="34" charset="0"/>
                <a:ea typeface="Courier New" pitchFamily="34" charset="-122"/>
                <a:cs typeface="Courier New" pitchFamily="34" charset="-120"/>
              </a:rPr>
              <a:t>Atlas</a:t>
            </a:r>
            <a:endParaRPr lang="en-US" sz="1200" dirty="0"/>
          </a:p>
        </p:txBody>
      </p:sp>
      <p:sp>
        <p:nvSpPr>
          <p:cNvPr id="9" name="anim-06-1"/>
          <p:cNvSpPr/>
          <p:nvPr/>
        </p:nvSpPr>
        <p:spPr>
          <a:xfrm>
            <a:off x="1481328" y="3977640"/>
            <a:ext cx="841248" cy="329184"/>
          </a:xfrm>
          <a:prstGeom prst="roundRect">
            <a:avLst>
              <a:gd name="adj" fmla="val 50000"/>
            </a:avLst>
          </a:prstGeom>
          <a:solidFill>
            <a:srgbClr val="0B0D07"/>
          </a:solidFill>
          <a:ln w="12700">
            <a:solidFill>
              <a:schemeClr val="accent5"/>
            </a:solidFill>
          </a:ln>
        </p:spPr>
        <p:txBody>
          <a:bodyPr wrap="square" lIns="0" tIns="0" rIns="0" bIns="0" rtlCol="0" anchor="ctr"/>
          <a:lstStyle/>
          <a:p>
            <a:pPr algn="ctr" indent="0" marL="0">
              <a:buNone/>
            </a:pPr>
            <a:r>
              <a:rPr lang="en-US" sz="1200" dirty="0">
                <a:solidFill>
                  <a:schemeClr val="bg1"/>
                </a:solidFill>
                <a:latin typeface="Courier New" pitchFamily="34" charset="0"/>
                <a:ea typeface="Courier New" pitchFamily="34" charset="-122"/>
                <a:cs typeface="Courier New" pitchFamily="34" charset="-120"/>
              </a:rPr>
              <a:t>Ask</a:t>
            </a:r>
            <a:endParaRPr lang="en-US" sz="1200" dirty="0"/>
          </a:p>
        </p:txBody>
      </p:sp>
      <p:sp>
        <p:nvSpPr>
          <p:cNvPr id="10" name="anim-06-2"/>
          <p:cNvSpPr/>
          <p:nvPr/>
        </p:nvSpPr>
        <p:spPr>
          <a:xfrm>
            <a:off x="2414016" y="3977640"/>
            <a:ext cx="841248" cy="329184"/>
          </a:xfrm>
          <a:prstGeom prst="roundRect">
            <a:avLst>
              <a:gd name="adj" fmla="val 50000"/>
            </a:avLst>
          </a:prstGeom>
          <a:solidFill>
            <a:srgbClr val="0B0D07"/>
          </a:solidFill>
          <a:ln w="12700">
            <a:solidFill>
              <a:schemeClr val="accent5"/>
            </a:solidFill>
          </a:ln>
        </p:spPr>
        <p:txBody>
          <a:bodyPr wrap="square" lIns="0" tIns="0" rIns="0" bIns="0" rtlCol="0" anchor="ctr"/>
          <a:lstStyle/>
          <a:p>
            <a:pPr algn="ctr" indent="0" marL="0">
              <a:buNone/>
            </a:pPr>
            <a:r>
              <a:rPr lang="en-US" sz="1200" dirty="0">
                <a:solidFill>
                  <a:schemeClr val="bg1"/>
                </a:solidFill>
                <a:latin typeface="Courier New" pitchFamily="34" charset="0"/>
                <a:ea typeface="Courier New" pitchFamily="34" charset="-122"/>
                <a:cs typeface="Courier New" pitchFamily="34" charset="-120"/>
              </a:rPr>
              <a:t>Impact</a:t>
            </a:r>
            <a:endParaRPr lang="en-US" sz="1200" dirty="0"/>
          </a:p>
        </p:txBody>
      </p:sp>
      <p:sp>
        <p:nvSpPr>
          <p:cNvPr id="11" name="anim-06-3"/>
          <p:cNvSpPr/>
          <p:nvPr/>
        </p:nvSpPr>
        <p:spPr>
          <a:xfrm>
            <a:off x="3346704" y="3977640"/>
            <a:ext cx="841248" cy="329184"/>
          </a:xfrm>
          <a:prstGeom prst="roundRect">
            <a:avLst>
              <a:gd name="adj" fmla="val 50000"/>
            </a:avLst>
          </a:prstGeom>
          <a:solidFill>
            <a:srgbClr val="0B0D07"/>
          </a:solidFill>
          <a:ln w="12700">
            <a:solidFill>
              <a:schemeClr val="accent5"/>
            </a:solidFill>
          </a:ln>
        </p:spPr>
        <p:txBody>
          <a:bodyPr wrap="square" lIns="0" tIns="0" rIns="0" bIns="0" rtlCol="0" anchor="ctr"/>
          <a:lstStyle/>
          <a:p>
            <a:pPr algn="ctr" indent="0" marL="0">
              <a:buNone/>
            </a:pPr>
            <a:r>
              <a:rPr lang="en-US" sz="1200" dirty="0">
                <a:solidFill>
                  <a:schemeClr val="bg1"/>
                </a:solidFill>
                <a:latin typeface="Courier New" pitchFamily="34" charset="0"/>
                <a:ea typeface="Courier New" pitchFamily="34" charset="-122"/>
                <a:cs typeface="Courier New" pitchFamily="34" charset="-120"/>
              </a:rPr>
              <a:t>Tutor</a:t>
            </a:r>
            <a:endParaRPr lang="en-US" sz="1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childTnLst>
                                </p:cTn>
                              </p:par>
                            </p:childTnLst>
                          </p:cTn>
                        </p:par>
                        <p:par>
                          <p:cTn id="8" fill="hold">
                            <p:stCondLst>
                              <p:cond delay="280"/>
                            </p:stCondLst>
                            <p:childTnLst>
                              <p:par>
                                <p:cTn id="9" presetID="10" presetClass="entr" presetSubtype="0" fill="hold" nodeType="with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600"/>
                                        <p:tgtEl>
                                          <p:spTgt spid="4"/>
                                        </p:tgtEl>
                                      </p:cBhvr>
                                    </p:animEffect>
                                  </p:childTnLst>
                                </p:cTn>
                              </p:par>
                            </p:childTnLst>
                          </p:cTn>
                        </p:par>
                        <p:par>
                          <p:cTn id="12" fill="hold">
                            <p:stCondLst>
                              <p:cond delay="560"/>
                            </p:stCondLst>
                            <p:childTnLst>
                              <p:par>
                                <p:cTn id="13" presetID="10"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600"/>
                                        <p:tgtEl>
                                          <p:spTgt spid="5"/>
                                        </p:tgtEl>
                                      </p:cBhvr>
                                    </p:animEffect>
                                  </p:childTnLst>
                                </p:cTn>
                              </p:par>
                            </p:childTnLst>
                          </p:cTn>
                        </p:par>
                        <p:par>
                          <p:cTn id="16" fill="hold">
                            <p:stCondLst>
                              <p:cond delay="840"/>
                            </p:stCondLst>
                            <p:childTnLst>
                              <p:par>
                                <p:cTn id="17" presetID="10" presetClass="entr" presetSubtype="0" fill="hold"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600"/>
                                        <p:tgtEl>
                                          <p:spTgt spid="6"/>
                                        </p:tgtEl>
                                      </p:cBhvr>
                                    </p:animEffect>
                                  </p:childTnLst>
                                </p:cTn>
                              </p:par>
                            </p:childTnLst>
                          </p:cTn>
                        </p:par>
                        <p:par>
                          <p:cTn id="20" fill="hold">
                            <p:stCondLst>
                              <p:cond delay="1120"/>
                            </p:stCondLst>
                            <p:childTnLst>
                              <p:par>
                                <p:cTn id="21" presetID="10"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600"/>
                                        <p:tgtEl>
                                          <p:spTgt spid="7"/>
                                        </p:tgtEl>
                                      </p:cBhvr>
                                    </p:animEffect>
                                  </p:childTnLst>
                                </p:cTn>
                              </p:par>
                            </p:childTnLst>
                          </p:cTn>
                        </p:par>
                        <p:par>
                          <p:cTn id="24" fill="hold">
                            <p:stCondLst>
                              <p:cond delay="1400"/>
                            </p:stCondLst>
                            <p:childTnLst>
                              <p:par>
                                <p:cTn id="25" presetID="10" presetClass="entr" presetSubtype="0" fill="hold" nodeType="with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600"/>
                                        <p:tgtEl>
                                          <p:spTgt spid="8"/>
                                        </p:tgtEl>
                                      </p:cBhvr>
                                    </p:animEffect>
                                  </p:childTnLst>
                                </p:cTn>
                              </p:par>
                              <p:par>
                                <p:cTn id="28" presetID="10" presetClass="entr" presetSubtype="0" fill="hold" nodeType="with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600"/>
                                        <p:tgtEl>
                                          <p:spTgt spid="9"/>
                                        </p:tgtEl>
                                      </p:cBhvr>
                                    </p:animEffect>
                                  </p:childTnLst>
                                </p:cTn>
                              </p:par>
                              <p:par>
                                <p:cTn id="31" presetID="10" presetClass="entr" presetSubtype="0" fill="hold" nodeType="with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fade">
                                      <p:cBhvr>
                                        <p:cTn id="33" dur="600"/>
                                        <p:tgtEl>
                                          <p:spTgt spid="10"/>
                                        </p:tgtEl>
                                      </p:cBhvr>
                                    </p:animEffect>
                                  </p:childTnLst>
                                </p:cTn>
                              </p:par>
                              <p:par>
                                <p:cTn id="34" presetID="10" presetClass="entr" presetSubtype="0" fill="hold" nodeType="withEffect">
                                  <p:stCondLst>
                                    <p:cond delay="0"/>
                                  </p:stCondLst>
                                  <p:childTnLst>
                                    <p:set>
                                      <p:cBhvr>
                                        <p:cTn id="35" dur="1" fill="hold">
                                          <p:stCondLst>
                                            <p:cond delay="0"/>
                                          </p:stCondLst>
                                        </p:cTn>
                                        <p:tgtEl>
                                          <p:spTgt spid="11"/>
                                        </p:tgtEl>
                                        <p:attrNameLst>
                                          <p:attrName>style.visibility</p:attrName>
                                        </p:attrNameLst>
                                      </p:cBhvr>
                                      <p:to>
                                        <p:strVal val="visible"/>
                                      </p:to>
                                    </p:set>
                                    <p:animEffect transition="in" filter="fade">
                                      <p:cBhvr>
                                        <p:cTn id="36" dur="6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046720" cy="237744"/>
          </a:xfrm>
          <a:prstGeom prst="rect">
            <a:avLst/>
          </a:prstGeom>
          <a:noFill/>
          <a:ln/>
        </p:spPr>
        <p:txBody>
          <a:bodyPr wrap="square" lIns="0" tIns="0" rIns="0" bIns="0" rtlCol="0" anchor="t"/>
          <a:lstStyle/>
          <a:p>
            <a:pPr algn="l" indent="0" marL="0">
              <a:buNone/>
            </a:pPr>
            <a:r>
              <a:rPr lang="en-US" sz="1100" spc="300" kern="0" dirty="0">
                <a:solidFill>
                  <a:schemeClr val="accent1"/>
                </a:solidFill>
                <a:latin typeface="Courier New" pitchFamily="34" charset="0"/>
                <a:ea typeface="Courier New" pitchFamily="34" charset="-122"/>
                <a:cs typeface="Courier New" pitchFamily="34" charset="-120"/>
              </a:rPr>
              <a:t>THE PROBLEM</a:t>
            </a:r>
            <a:endParaRPr lang="en-US" sz="1100" dirty="0"/>
          </a:p>
        </p:txBody>
      </p:sp>
      <p:sp>
        <p:nvSpPr>
          <p:cNvPr id="3" name="Text 0"/>
          <p:cNvSpPr/>
          <p:nvPr>
            <p:ph idx="101" type="title" hasCustomPrompt="1"/>
          </p:nvPr>
        </p:nvSpPr>
        <p:spPr>
          <a:xfrm>
            <a:off x="548640" y="548640"/>
            <a:ext cx="8046720" cy="566928"/>
          </a:xfrm>
          <a:prstGeom prst="rect">
            <a:avLst/>
          </a:prstGeom>
          <a:noFill/>
          <a:ln/>
        </p:spPr>
        <p:txBody>
          <a:bodyPr wrap="square" lIns="0" tIns="0" rIns="0" bIns="0" rtlCol="0" anchor="t"/>
          <a:lstStyle/>
          <a:p>
            <a:pPr algn="l" indent="0" marL="0">
              <a:buNone/>
            </a:pPr>
            <a:r>
              <a:rPr lang="en-US" sz="3000" b="1" dirty="0">
                <a:solidFill>
                  <a:schemeClr val="bg1"/>
                </a:solidFill>
              </a:rPr>
              <a:t>Reading someone else’s code is slow</a:t>
            </a:r>
            <a:endParaRPr lang="en-US" sz="3000" dirty="0"/>
          </a:p>
        </p:txBody>
      </p:sp>
      <p:sp>
        <p:nvSpPr>
          <p:cNvPr id="4" name="anim-01-card"/>
          <p:cNvSpPr/>
          <p:nvPr/>
        </p:nvSpPr>
        <p:spPr>
          <a:xfrm>
            <a:off x="548640" y="1371600"/>
            <a:ext cx="2560320" cy="2514600"/>
          </a:xfrm>
          <a:prstGeom prst="roundRect">
            <a:avLst>
              <a:gd name="adj" fmla="val 3636"/>
            </a:avLst>
          </a:prstGeom>
          <a:solidFill>
            <a:schemeClr val="tx2"/>
          </a:solidFill>
          <a:ln w="12700">
            <a:solidFill>
              <a:schemeClr val="accent5"/>
            </a:solidFill>
            <a:prstDash val="solid"/>
          </a:ln>
        </p:spPr>
      </p:sp>
      <p:sp>
        <p:nvSpPr>
          <p:cNvPr id="5" name="anim-01-dot"/>
          <p:cNvSpPr/>
          <p:nvPr/>
        </p:nvSpPr>
        <p:spPr>
          <a:xfrm>
            <a:off x="777240" y="1600200"/>
            <a:ext cx="566928" cy="566928"/>
          </a:xfrm>
          <a:prstGeom prst="ellipse">
            <a:avLst/>
          </a:prstGeom>
          <a:solidFill>
            <a:srgbClr val="1F2A0A"/>
          </a:solidFill>
          <a:ln w="12700">
            <a:solidFill>
              <a:srgbClr val="1F2A0A"/>
            </a:solidFill>
            <a:prstDash val="solid"/>
          </a:ln>
        </p:spPr>
      </p:sp>
      <p:pic>
        <p:nvPicPr>
          <p:cNvPr id="6" name="anim-01-icon" descr="preencoded.png">    </p:cNvPr>
          <p:cNvPicPr>
            <a:picLocks noChangeAspect="1"/>
          </p:cNvPicPr>
          <p:nvPr/>
        </p:nvPicPr>
        <p:blipFill>
          <a:blip r:embed="rId1"/>
          <a:stretch>
            <a:fillRect/>
          </a:stretch>
        </p:blipFill>
        <p:spPr>
          <a:xfrm>
            <a:off x="896112" y="1719072"/>
            <a:ext cx="329184" cy="329184"/>
          </a:xfrm>
          <a:prstGeom prst="rect">
            <a:avLst/>
          </a:prstGeom>
        </p:spPr>
      </p:pic>
      <p:sp>
        <p:nvSpPr>
          <p:cNvPr id="7" name="anim-01-h"/>
          <p:cNvSpPr txBox="1"/>
          <p:nvPr/>
        </p:nvSpPr>
        <p:spPr>
          <a:xfrm>
            <a:off x="777240" y="2286000"/>
            <a:ext cx="2148840" cy="548640"/>
          </a:xfrm>
          <a:prstGeom prst="rect">
            <a:avLst/>
          </a:prstGeom>
          <a:noFill/>
          <a:ln/>
        </p:spPr>
        <p:txBody>
          <a:bodyPr wrap="square" lIns="0" tIns="0" rIns="0" bIns="0" rtlCol="0" anchor="t"/>
          <a:lstStyle/>
          <a:p>
            <a:pPr indent="0" marL="0">
              <a:buNone/>
            </a:pPr>
            <a:r>
              <a:rPr lang="en-US" sz="1600" b="1" dirty="0">
                <a:solidFill>
                  <a:schemeClr val="bg1"/>
                </a:solidFill>
              </a:rPr>
              <a:t>Where does it start?</a:t>
            </a:r>
            <a:endParaRPr lang="en-US" sz="1600" dirty="0"/>
          </a:p>
        </p:txBody>
      </p:sp>
      <p:sp>
        <p:nvSpPr>
          <p:cNvPr id="8" name="anim-01-b"/>
          <p:cNvSpPr txBox="1"/>
          <p:nvPr/>
        </p:nvSpPr>
        <p:spPr>
          <a:xfrm>
            <a:off x="777240" y="2852928"/>
            <a:ext cx="2148840" cy="960120"/>
          </a:xfrm>
          <a:prstGeom prst="rect">
            <a:avLst/>
          </a:prstGeom>
          <a:noFill/>
          <a:ln/>
        </p:spPr>
        <p:txBody>
          <a:bodyPr wrap="square" lIns="0" tIns="0" rIns="0" bIns="0" rtlCol="0" anchor="t"/>
          <a:lstStyle/>
          <a:p>
            <a:pPr indent="0" marL="0">
              <a:buNone/>
            </a:pPr>
            <a:r>
              <a:rPr lang="en-US" sz="1400" dirty="0">
                <a:solidFill>
                  <a:schemeClr val="bg2"/>
                </a:solidFill>
              </a:rPr>
              <a:t>Entry points, routes and mains are scattered across folders you have never opened.</a:t>
            </a:r>
            <a:endParaRPr lang="en-US" sz="1400" dirty="0"/>
          </a:p>
        </p:txBody>
      </p:sp>
      <p:sp>
        <p:nvSpPr>
          <p:cNvPr id="9" name="anim-02-card"/>
          <p:cNvSpPr/>
          <p:nvPr/>
        </p:nvSpPr>
        <p:spPr>
          <a:xfrm>
            <a:off x="3291840" y="1371600"/>
            <a:ext cx="2560320" cy="2514600"/>
          </a:xfrm>
          <a:prstGeom prst="roundRect">
            <a:avLst>
              <a:gd name="adj" fmla="val 3636"/>
            </a:avLst>
          </a:prstGeom>
          <a:solidFill>
            <a:schemeClr val="tx2"/>
          </a:solidFill>
          <a:ln w="12700">
            <a:solidFill>
              <a:schemeClr val="accent5"/>
            </a:solidFill>
            <a:prstDash val="solid"/>
          </a:ln>
        </p:spPr>
      </p:sp>
      <p:sp>
        <p:nvSpPr>
          <p:cNvPr id="10" name="anim-02-dot"/>
          <p:cNvSpPr/>
          <p:nvPr/>
        </p:nvSpPr>
        <p:spPr>
          <a:xfrm>
            <a:off x="3520440" y="1600200"/>
            <a:ext cx="566928" cy="566928"/>
          </a:xfrm>
          <a:prstGeom prst="ellipse">
            <a:avLst/>
          </a:prstGeom>
          <a:solidFill>
            <a:srgbClr val="1F2A0A"/>
          </a:solidFill>
          <a:ln w="12700">
            <a:solidFill>
              <a:srgbClr val="1F2A0A"/>
            </a:solidFill>
            <a:prstDash val="solid"/>
          </a:ln>
        </p:spPr>
      </p:sp>
      <p:pic>
        <p:nvPicPr>
          <p:cNvPr id="11" name="anim-02-icon" descr="preencoded.png">    </p:cNvPr>
          <p:cNvPicPr>
            <a:picLocks noChangeAspect="1"/>
          </p:cNvPicPr>
          <p:nvPr/>
        </p:nvPicPr>
        <p:blipFill>
          <a:blip r:embed="rId2"/>
          <a:stretch>
            <a:fillRect/>
          </a:stretch>
        </p:blipFill>
        <p:spPr>
          <a:xfrm>
            <a:off x="3639312" y="1719072"/>
            <a:ext cx="329184" cy="329184"/>
          </a:xfrm>
          <a:prstGeom prst="rect">
            <a:avLst/>
          </a:prstGeom>
        </p:spPr>
      </p:pic>
      <p:sp>
        <p:nvSpPr>
          <p:cNvPr id="12" name="anim-02-h"/>
          <p:cNvSpPr txBox="1"/>
          <p:nvPr/>
        </p:nvSpPr>
        <p:spPr>
          <a:xfrm>
            <a:off x="3520440" y="2286000"/>
            <a:ext cx="2148840" cy="548640"/>
          </a:xfrm>
          <a:prstGeom prst="rect">
            <a:avLst/>
          </a:prstGeom>
          <a:noFill/>
          <a:ln/>
        </p:spPr>
        <p:txBody>
          <a:bodyPr wrap="square" lIns="0" tIns="0" rIns="0" bIns="0" rtlCol="0" anchor="t"/>
          <a:lstStyle/>
          <a:p>
            <a:pPr indent="0" marL="0">
              <a:buNone/>
            </a:pPr>
            <a:r>
              <a:rPr lang="en-US" sz="1600" b="1" dirty="0">
                <a:solidFill>
                  <a:schemeClr val="bg1"/>
                </a:solidFill>
              </a:rPr>
              <a:t>What depends on what?</a:t>
            </a:r>
            <a:endParaRPr lang="en-US" sz="1600" dirty="0"/>
          </a:p>
        </p:txBody>
      </p:sp>
      <p:sp>
        <p:nvSpPr>
          <p:cNvPr id="13" name="anim-02-b"/>
          <p:cNvSpPr txBox="1"/>
          <p:nvPr/>
        </p:nvSpPr>
        <p:spPr>
          <a:xfrm>
            <a:off x="3520440" y="2852928"/>
            <a:ext cx="2148840" cy="960120"/>
          </a:xfrm>
          <a:prstGeom prst="rect">
            <a:avLst/>
          </a:prstGeom>
          <a:noFill/>
          <a:ln/>
        </p:spPr>
        <p:txBody>
          <a:bodyPr wrap="square" lIns="0" tIns="0" rIns="0" bIns="0" rtlCol="0" anchor="t"/>
          <a:lstStyle/>
          <a:p>
            <a:pPr indent="0" marL="0">
              <a:buNone/>
            </a:pPr>
            <a:r>
              <a:rPr lang="en-US" sz="1400" dirty="0">
                <a:solidFill>
                  <a:schemeClr val="bg2"/>
                </a:solidFill>
              </a:rPr>
              <a:t>Changing one file can break code several imports away, and nothing tells you where.</a:t>
            </a:r>
            <a:endParaRPr lang="en-US" sz="1400" dirty="0"/>
          </a:p>
        </p:txBody>
      </p:sp>
      <p:sp>
        <p:nvSpPr>
          <p:cNvPr id="14" name="anim-03-card"/>
          <p:cNvSpPr/>
          <p:nvPr/>
        </p:nvSpPr>
        <p:spPr>
          <a:xfrm>
            <a:off x="6035040" y="1371600"/>
            <a:ext cx="2560320" cy="2514600"/>
          </a:xfrm>
          <a:prstGeom prst="roundRect">
            <a:avLst>
              <a:gd name="adj" fmla="val 3636"/>
            </a:avLst>
          </a:prstGeom>
          <a:solidFill>
            <a:schemeClr val="tx2"/>
          </a:solidFill>
          <a:ln w="12700">
            <a:solidFill>
              <a:schemeClr val="accent5"/>
            </a:solidFill>
            <a:prstDash val="solid"/>
          </a:ln>
        </p:spPr>
      </p:sp>
      <p:sp>
        <p:nvSpPr>
          <p:cNvPr id="15" name="anim-03-dot"/>
          <p:cNvSpPr/>
          <p:nvPr/>
        </p:nvSpPr>
        <p:spPr>
          <a:xfrm>
            <a:off x="6263640" y="1600200"/>
            <a:ext cx="566928" cy="566928"/>
          </a:xfrm>
          <a:prstGeom prst="ellipse">
            <a:avLst/>
          </a:prstGeom>
          <a:solidFill>
            <a:srgbClr val="1F2A0A"/>
          </a:solidFill>
          <a:ln w="12700">
            <a:solidFill>
              <a:srgbClr val="1F2A0A"/>
            </a:solidFill>
            <a:prstDash val="solid"/>
          </a:ln>
        </p:spPr>
      </p:sp>
      <p:pic>
        <p:nvPicPr>
          <p:cNvPr id="16" name="anim-03-icon" descr="preencoded.png">    </p:cNvPr>
          <p:cNvPicPr>
            <a:picLocks noChangeAspect="1"/>
          </p:cNvPicPr>
          <p:nvPr/>
        </p:nvPicPr>
        <p:blipFill>
          <a:blip r:embed="rId3"/>
          <a:stretch>
            <a:fillRect/>
          </a:stretch>
        </p:blipFill>
        <p:spPr>
          <a:xfrm>
            <a:off x="6382512" y="1719072"/>
            <a:ext cx="329184" cy="329184"/>
          </a:xfrm>
          <a:prstGeom prst="rect">
            <a:avLst/>
          </a:prstGeom>
        </p:spPr>
      </p:pic>
      <p:sp>
        <p:nvSpPr>
          <p:cNvPr id="17" name="anim-03-h"/>
          <p:cNvSpPr txBox="1"/>
          <p:nvPr/>
        </p:nvSpPr>
        <p:spPr>
          <a:xfrm>
            <a:off x="6263640" y="2286000"/>
            <a:ext cx="2148840" cy="548640"/>
          </a:xfrm>
          <a:prstGeom prst="rect">
            <a:avLst/>
          </a:prstGeom>
          <a:noFill/>
          <a:ln/>
        </p:spPr>
        <p:txBody>
          <a:bodyPr wrap="square" lIns="0" tIns="0" rIns="0" bIns="0" rtlCol="0" anchor="t"/>
          <a:lstStyle/>
          <a:p>
            <a:pPr indent="0" marL="0">
              <a:buNone/>
            </a:pPr>
            <a:r>
              <a:rPr lang="en-US" sz="1600" b="1" dirty="0">
                <a:solidFill>
                  <a:schemeClr val="bg1"/>
                </a:solidFill>
              </a:rPr>
              <a:t>Can I trust the answer?</a:t>
            </a:r>
            <a:endParaRPr lang="en-US" sz="1600" dirty="0"/>
          </a:p>
        </p:txBody>
      </p:sp>
      <p:sp>
        <p:nvSpPr>
          <p:cNvPr id="18" name="anim-03-b"/>
          <p:cNvSpPr txBox="1"/>
          <p:nvPr/>
        </p:nvSpPr>
        <p:spPr>
          <a:xfrm>
            <a:off x="6263640" y="2852928"/>
            <a:ext cx="2148840" cy="960120"/>
          </a:xfrm>
          <a:prstGeom prst="rect">
            <a:avLst/>
          </a:prstGeom>
          <a:noFill/>
          <a:ln/>
        </p:spPr>
        <p:txBody>
          <a:bodyPr wrap="square" lIns="0" tIns="0" rIns="0" bIns="0" rtlCol="0" anchor="t"/>
          <a:lstStyle/>
          <a:p>
            <a:pPr indent="0" marL="0">
              <a:buNone/>
            </a:pPr>
            <a:r>
              <a:rPr lang="en-US" sz="1400" dirty="0">
                <a:solidFill>
                  <a:schemeClr val="bg2"/>
                </a:solidFill>
              </a:rPr>
              <a:t>A generic chatbot can describe code it never read. You need answers that point at real lines.</a:t>
            </a:r>
            <a:endParaRPr lang="en-US" sz="1400" dirty="0"/>
          </a:p>
        </p:txBody>
      </p:sp>
      <p:sp>
        <p:nvSpPr>
          <p:cNvPr id="19" name="anim-04"/>
          <p:cNvSpPr txBox="1"/>
          <p:nvPr/>
        </p:nvSpPr>
        <p:spPr>
          <a:xfrm>
            <a:off x="548640" y="4114800"/>
            <a:ext cx="8046720" cy="365760"/>
          </a:xfrm>
          <a:prstGeom prst="rect">
            <a:avLst/>
          </a:prstGeom>
          <a:noFill/>
          <a:ln/>
        </p:spPr>
        <p:txBody>
          <a:bodyPr wrap="square" lIns="0" tIns="0" rIns="0" bIns="0" rtlCol="0" anchor="ctr"/>
          <a:lstStyle/>
          <a:p>
            <a:pPr indent="0" marL="0">
              <a:buNone/>
            </a:pPr>
            <a:r>
              <a:rPr lang="en-US" sz="1800" b="1" dirty="0">
                <a:solidFill>
                  <a:schemeClr val="accent1"/>
                </a:solidFill>
              </a:rPr>
              <a:t>CodeBaseGPT answers all three from the repository itself.</a:t>
            </a:r>
            <a:endParaRPr lang="en-US" sz="1800" dirty="0"/>
          </a:p>
        </p:txBody>
      </p:sp>
      <p:sp>
        <p:nvSpPr>
          <p:cNvPr id="25" name="Slide Number Placeholder 0"/>
          <p:cNvSpPr>
            <a:spLocks noGrp="1"/>
          </p:cNvSpPr>
          <p:nvPr>
            <p:ph type="sldNum" sz="quarter" idx="4294967295"/>
          </p:nvPr>
        </p:nvSpPr>
        <p:spPr>
          <a:xfrm>
            <a:off x="8138160" y="473659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5857F"/>
                </a:solidFill>
                <a:latin typeface="Courier New"/>
                <a:ea typeface="Courier New"/>
                <a:cs typeface="Courier New"/>
              </a:defRPr>
            </a:lvl1pPr>
          </a:lstStyle>
          <a:p>
            <a:pPr algn="r"/>
            <a:fld id="{F7021451-1387-4CA6-816F-3879F97B5CBC}" type="slidenum">
              <a:rPr b="0" lang="en-US"/>
              <a:t>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600"/>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600"/>
                                        <p:tgtEl>
                                          <p:spTgt spid="6"/>
                                        </p:tgtEl>
                                      </p:cBhvr>
                                    </p:animEffect>
                                  </p:childTnLst>
                                </p:cTn>
                              </p:par>
                              <p:par>
                                <p:cTn id="14" presetID="10" presetClass="entr" presetSubtype="0" fill="hold"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600"/>
                                        <p:tgtEl>
                                          <p:spTgt spid="7"/>
                                        </p:tgtEl>
                                      </p:cBhvr>
                                    </p:animEffect>
                                  </p:childTnLst>
                                </p:cTn>
                              </p:par>
                              <p:par>
                                <p:cTn id="17" presetID="10"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600"/>
                                        <p:tgtEl>
                                          <p:spTgt spid="8"/>
                                        </p:tgtEl>
                                      </p:cBhvr>
                                    </p:animEffect>
                                  </p:childTnLst>
                                </p:cTn>
                              </p:par>
                            </p:childTnLst>
                          </p:cTn>
                        </p:par>
                        <p:par>
                          <p:cTn id="20" fill="hold">
                            <p:stCondLst>
                              <p:cond delay="280"/>
                            </p:stCondLst>
                            <p:childTnLst>
                              <p:par>
                                <p:cTn id="21" presetID="10" presetClass="entr" presetSubtype="0" fill="hold"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600"/>
                                        <p:tgtEl>
                                          <p:spTgt spid="9"/>
                                        </p:tgtEl>
                                      </p:cBhvr>
                                    </p:animEffect>
                                  </p:childTnLst>
                                </p:cTn>
                              </p:par>
                              <p:par>
                                <p:cTn id="24" presetID="10" presetClass="entr" presetSubtype="0" fill="hold"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600"/>
                                        <p:tgtEl>
                                          <p:spTgt spid="10"/>
                                        </p:tgtEl>
                                      </p:cBhvr>
                                    </p:animEffect>
                                  </p:childTnLst>
                                </p:cTn>
                              </p:par>
                              <p:par>
                                <p:cTn id="27" presetID="10" presetClass="entr" presetSubtype="0" fill="hold"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600"/>
                                        <p:tgtEl>
                                          <p:spTgt spid="11"/>
                                        </p:tgtEl>
                                      </p:cBhvr>
                                    </p:animEffect>
                                  </p:childTnLst>
                                </p:cTn>
                              </p:par>
                              <p:par>
                                <p:cTn id="30" presetID="10" presetClass="entr" presetSubtype="0" fill="hold"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600"/>
                                        <p:tgtEl>
                                          <p:spTgt spid="12"/>
                                        </p:tgtEl>
                                      </p:cBhvr>
                                    </p:animEffect>
                                  </p:childTnLst>
                                </p:cTn>
                              </p:par>
                              <p:par>
                                <p:cTn id="33" presetID="10" presetClass="entr" presetSubtype="0" fill="hold"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600"/>
                                        <p:tgtEl>
                                          <p:spTgt spid="13"/>
                                        </p:tgtEl>
                                      </p:cBhvr>
                                    </p:animEffect>
                                  </p:childTnLst>
                                </p:cTn>
                              </p:par>
                            </p:childTnLst>
                          </p:cTn>
                        </p:par>
                        <p:par>
                          <p:cTn id="36" fill="hold">
                            <p:stCondLst>
                              <p:cond delay="560"/>
                            </p:stCondLst>
                            <p:childTnLst>
                              <p:par>
                                <p:cTn id="37" presetID="10" presetClass="entr" presetSubtype="0" fill="hold"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600"/>
                                        <p:tgtEl>
                                          <p:spTgt spid="14"/>
                                        </p:tgtEl>
                                      </p:cBhvr>
                                    </p:animEffect>
                                  </p:childTnLst>
                                </p:cTn>
                              </p:par>
                              <p:par>
                                <p:cTn id="40" presetID="10" presetClass="entr" presetSubtype="0" fill="hold"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600"/>
                                        <p:tgtEl>
                                          <p:spTgt spid="15"/>
                                        </p:tgtEl>
                                      </p:cBhvr>
                                    </p:animEffect>
                                  </p:childTnLst>
                                </p:cTn>
                              </p:par>
                              <p:par>
                                <p:cTn id="43" presetID="10" presetClass="entr" presetSubtype="0" fill="hold" nodeType="with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600"/>
                                        <p:tgtEl>
                                          <p:spTgt spid="16"/>
                                        </p:tgtEl>
                                      </p:cBhvr>
                                    </p:animEffect>
                                  </p:childTnLst>
                                </p:cTn>
                              </p:par>
                              <p:par>
                                <p:cTn id="46" presetID="10" presetClass="entr" presetSubtype="0" fill="hold" nodeType="with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600"/>
                                        <p:tgtEl>
                                          <p:spTgt spid="17"/>
                                        </p:tgtEl>
                                      </p:cBhvr>
                                    </p:animEffect>
                                  </p:childTnLst>
                                </p:cTn>
                              </p:par>
                              <p:par>
                                <p:cTn id="49" presetID="10" presetClass="entr" presetSubtype="0" fill="hold" nodeType="with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600"/>
                                        <p:tgtEl>
                                          <p:spTgt spid="18"/>
                                        </p:tgtEl>
                                      </p:cBhvr>
                                    </p:animEffect>
                                  </p:childTnLst>
                                </p:cTn>
                              </p:par>
                            </p:childTnLst>
                          </p:cTn>
                        </p:par>
                        <p:par>
                          <p:cTn id="52" fill="hold">
                            <p:stCondLst>
                              <p:cond delay="840"/>
                            </p:stCondLst>
                            <p:childTnLst>
                              <p:par>
                                <p:cTn id="53" presetID="10" presetClass="entr" presetSubtype="0" fill="hold"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6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046720" cy="237744"/>
          </a:xfrm>
          <a:prstGeom prst="rect">
            <a:avLst/>
          </a:prstGeom>
          <a:noFill/>
          <a:ln/>
        </p:spPr>
        <p:txBody>
          <a:bodyPr wrap="square" lIns="0" tIns="0" rIns="0" bIns="0" rtlCol="0" anchor="t"/>
          <a:lstStyle/>
          <a:p>
            <a:pPr algn="l" indent="0" marL="0">
              <a:buNone/>
            </a:pPr>
            <a:r>
              <a:rPr lang="en-US" sz="1100" spc="300" kern="0" dirty="0">
                <a:solidFill>
                  <a:schemeClr val="accent1"/>
                </a:solidFill>
                <a:latin typeface="Courier New" pitchFamily="34" charset="0"/>
                <a:ea typeface="Courier New" pitchFamily="34" charset="-122"/>
                <a:cs typeface="Courier New" pitchFamily="34" charset="-120"/>
              </a:rPr>
              <a:t>WHAT IT DOES</a:t>
            </a:r>
            <a:endParaRPr lang="en-US" sz="1100" dirty="0"/>
          </a:p>
        </p:txBody>
      </p:sp>
      <p:sp>
        <p:nvSpPr>
          <p:cNvPr id="3" name="Text 0"/>
          <p:cNvSpPr/>
          <p:nvPr>
            <p:ph idx="101" type="title" hasCustomPrompt="1"/>
          </p:nvPr>
        </p:nvSpPr>
        <p:spPr>
          <a:xfrm>
            <a:off x="548640" y="548640"/>
            <a:ext cx="8046720" cy="566928"/>
          </a:xfrm>
          <a:prstGeom prst="rect">
            <a:avLst/>
          </a:prstGeom>
          <a:noFill/>
          <a:ln/>
        </p:spPr>
        <p:txBody>
          <a:bodyPr wrap="square" lIns="0" tIns="0" rIns="0" bIns="0" rtlCol="0" anchor="t"/>
          <a:lstStyle/>
          <a:p>
            <a:pPr algn="l" indent="0" marL="0">
              <a:buNone/>
            </a:pPr>
            <a:r>
              <a:rPr lang="en-US" sz="3000" b="1" dirty="0">
                <a:solidFill>
                  <a:schemeClr val="bg1"/>
                </a:solidFill>
              </a:rPr>
              <a:t>Six tools, one indexed repository</a:t>
            </a:r>
            <a:endParaRPr lang="en-US" sz="3000" dirty="0"/>
          </a:p>
        </p:txBody>
      </p:sp>
      <p:sp>
        <p:nvSpPr>
          <p:cNvPr id="4" name="anim-01-card"/>
          <p:cNvSpPr/>
          <p:nvPr/>
        </p:nvSpPr>
        <p:spPr>
          <a:xfrm>
            <a:off x="548640" y="1325880"/>
            <a:ext cx="2560320" cy="1508760"/>
          </a:xfrm>
          <a:prstGeom prst="roundRect">
            <a:avLst>
              <a:gd name="adj" fmla="val 6061"/>
            </a:avLst>
          </a:prstGeom>
          <a:solidFill>
            <a:schemeClr val="tx2"/>
          </a:solidFill>
          <a:ln w="12700">
            <a:solidFill>
              <a:schemeClr val="accent5"/>
            </a:solidFill>
            <a:prstDash val="solid"/>
          </a:ln>
        </p:spPr>
      </p:sp>
      <p:pic>
        <p:nvPicPr>
          <p:cNvPr id="5" name="anim-01-icon" descr="preencoded.png">    </p:cNvPr>
          <p:cNvPicPr>
            <a:picLocks noChangeAspect="1"/>
          </p:cNvPicPr>
          <p:nvPr/>
        </p:nvPicPr>
        <p:blipFill>
          <a:blip r:embed="rId1"/>
          <a:stretch>
            <a:fillRect/>
          </a:stretch>
        </p:blipFill>
        <p:spPr>
          <a:xfrm>
            <a:off x="777240" y="1554480"/>
            <a:ext cx="329184" cy="329184"/>
          </a:xfrm>
          <a:prstGeom prst="rect">
            <a:avLst/>
          </a:prstGeom>
        </p:spPr>
      </p:pic>
      <p:sp>
        <p:nvSpPr>
          <p:cNvPr id="6" name="anim-01-h"/>
          <p:cNvSpPr txBox="1"/>
          <p:nvPr/>
        </p:nvSpPr>
        <p:spPr>
          <a:xfrm>
            <a:off x="1234440" y="1545336"/>
            <a:ext cx="1737360" cy="365760"/>
          </a:xfrm>
          <a:prstGeom prst="rect">
            <a:avLst/>
          </a:prstGeom>
          <a:noFill/>
          <a:ln/>
        </p:spPr>
        <p:txBody>
          <a:bodyPr wrap="square" lIns="0" tIns="0" rIns="0" bIns="0" rtlCol="0" anchor="ctr"/>
          <a:lstStyle/>
          <a:p>
            <a:pPr indent="0" marL="0">
              <a:buNone/>
            </a:pPr>
            <a:r>
              <a:rPr lang="en-US" sz="1600" b="1" dirty="0">
                <a:solidFill>
                  <a:schemeClr val="bg1"/>
                </a:solidFill>
              </a:rPr>
              <a:t>Codebase Atlas</a:t>
            </a:r>
            <a:endParaRPr lang="en-US" sz="1600" dirty="0"/>
          </a:p>
        </p:txBody>
      </p:sp>
      <p:sp>
        <p:nvSpPr>
          <p:cNvPr id="7" name="anim-01-b"/>
          <p:cNvSpPr txBox="1"/>
          <p:nvPr/>
        </p:nvSpPr>
        <p:spPr>
          <a:xfrm>
            <a:off x="777240" y="2039112"/>
            <a:ext cx="2148840" cy="685800"/>
          </a:xfrm>
          <a:prstGeom prst="rect">
            <a:avLst/>
          </a:prstGeom>
          <a:noFill/>
          <a:ln/>
        </p:spPr>
        <p:txBody>
          <a:bodyPr wrap="square" lIns="0" tIns="0" rIns="0" bIns="0" rtlCol="0" anchor="t"/>
          <a:lstStyle/>
          <a:p>
            <a:pPr indent="0" marL="0">
              <a:buNone/>
            </a:pPr>
            <a:r>
              <a:rPr lang="en-US" sz="1400" dirty="0">
                <a:solidFill>
                  <a:schemeClr val="bg2"/>
                </a:solidFill>
              </a:rPr>
              <a:t>An interactive map of folders, files, imports and calls.</a:t>
            </a:r>
            <a:endParaRPr lang="en-US" sz="1400" dirty="0"/>
          </a:p>
        </p:txBody>
      </p:sp>
      <p:sp>
        <p:nvSpPr>
          <p:cNvPr id="8" name="anim-02-card"/>
          <p:cNvSpPr/>
          <p:nvPr/>
        </p:nvSpPr>
        <p:spPr>
          <a:xfrm>
            <a:off x="3291840" y="1325880"/>
            <a:ext cx="2560320" cy="1508760"/>
          </a:xfrm>
          <a:prstGeom prst="roundRect">
            <a:avLst>
              <a:gd name="adj" fmla="val 6061"/>
            </a:avLst>
          </a:prstGeom>
          <a:solidFill>
            <a:schemeClr val="tx2"/>
          </a:solidFill>
          <a:ln w="12700">
            <a:solidFill>
              <a:schemeClr val="accent5"/>
            </a:solidFill>
            <a:prstDash val="solid"/>
          </a:ln>
        </p:spPr>
      </p:sp>
      <p:pic>
        <p:nvPicPr>
          <p:cNvPr id="9" name="anim-02-icon" descr="preencoded.png">    </p:cNvPr>
          <p:cNvPicPr>
            <a:picLocks noChangeAspect="1"/>
          </p:cNvPicPr>
          <p:nvPr/>
        </p:nvPicPr>
        <p:blipFill>
          <a:blip r:embed="rId2"/>
          <a:stretch>
            <a:fillRect/>
          </a:stretch>
        </p:blipFill>
        <p:spPr>
          <a:xfrm>
            <a:off x="3520440" y="1554480"/>
            <a:ext cx="329184" cy="329184"/>
          </a:xfrm>
          <a:prstGeom prst="rect">
            <a:avLst/>
          </a:prstGeom>
        </p:spPr>
      </p:pic>
      <p:sp>
        <p:nvSpPr>
          <p:cNvPr id="10" name="anim-02-h"/>
          <p:cNvSpPr txBox="1"/>
          <p:nvPr/>
        </p:nvSpPr>
        <p:spPr>
          <a:xfrm>
            <a:off x="3977640" y="1545336"/>
            <a:ext cx="1737360" cy="365760"/>
          </a:xfrm>
          <a:prstGeom prst="rect">
            <a:avLst/>
          </a:prstGeom>
          <a:noFill/>
          <a:ln/>
        </p:spPr>
        <p:txBody>
          <a:bodyPr wrap="square" lIns="0" tIns="0" rIns="0" bIns="0" rtlCol="0" anchor="ctr"/>
          <a:lstStyle/>
          <a:p>
            <a:pPr indent="0" marL="0">
              <a:buNone/>
            </a:pPr>
            <a:r>
              <a:rPr lang="en-US" sz="1600" b="1" dirty="0">
                <a:solidFill>
                  <a:schemeClr val="bg1"/>
                </a:solidFill>
              </a:rPr>
              <a:t>Ask</a:t>
            </a:r>
            <a:endParaRPr lang="en-US" sz="1600" dirty="0"/>
          </a:p>
        </p:txBody>
      </p:sp>
      <p:sp>
        <p:nvSpPr>
          <p:cNvPr id="11" name="anim-02-b"/>
          <p:cNvSpPr txBox="1"/>
          <p:nvPr/>
        </p:nvSpPr>
        <p:spPr>
          <a:xfrm>
            <a:off x="3520440" y="2039112"/>
            <a:ext cx="2148840" cy="685800"/>
          </a:xfrm>
          <a:prstGeom prst="rect">
            <a:avLst/>
          </a:prstGeom>
          <a:noFill/>
          <a:ln/>
        </p:spPr>
        <p:txBody>
          <a:bodyPr wrap="square" lIns="0" tIns="0" rIns="0" bIns="0" rtlCol="0" anchor="t"/>
          <a:lstStyle/>
          <a:p>
            <a:pPr indent="0" marL="0">
              <a:buNone/>
            </a:pPr>
            <a:r>
              <a:rPr lang="en-US" sz="1400" dirty="0">
                <a:solidFill>
                  <a:schemeClr val="bg2"/>
                </a:solidFill>
              </a:rPr>
              <a:t>Gemma 4 answers with file-and-line citations.</a:t>
            </a:r>
            <a:endParaRPr lang="en-US" sz="1400" dirty="0"/>
          </a:p>
        </p:txBody>
      </p:sp>
      <p:sp>
        <p:nvSpPr>
          <p:cNvPr id="12" name="anim-03-card"/>
          <p:cNvSpPr/>
          <p:nvPr/>
        </p:nvSpPr>
        <p:spPr>
          <a:xfrm>
            <a:off x="6035040" y="1325880"/>
            <a:ext cx="2560320" cy="1508760"/>
          </a:xfrm>
          <a:prstGeom prst="roundRect">
            <a:avLst>
              <a:gd name="adj" fmla="val 6061"/>
            </a:avLst>
          </a:prstGeom>
          <a:solidFill>
            <a:schemeClr val="tx2"/>
          </a:solidFill>
          <a:ln w="12700">
            <a:solidFill>
              <a:schemeClr val="accent5"/>
            </a:solidFill>
            <a:prstDash val="solid"/>
          </a:ln>
        </p:spPr>
      </p:sp>
      <p:pic>
        <p:nvPicPr>
          <p:cNvPr id="13" name="anim-03-icon" descr="preencoded.png">    </p:cNvPr>
          <p:cNvPicPr>
            <a:picLocks noChangeAspect="1"/>
          </p:cNvPicPr>
          <p:nvPr/>
        </p:nvPicPr>
        <p:blipFill>
          <a:blip r:embed="rId3"/>
          <a:stretch>
            <a:fillRect/>
          </a:stretch>
        </p:blipFill>
        <p:spPr>
          <a:xfrm>
            <a:off x="6263640" y="1554480"/>
            <a:ext cx="329184" cy="329184"/>
          </a:xfrm>
          <a:prstGeom prst="rect">
            <a:avLst/>
          </a:prstGeom>
        </p:spPr>
      </p:pic>
      <p:sp>
        <p:nvSpPr>
          <p:cNvPr id="14" name="anim-03-h"/>
          <p:cNvSpPr txBox="1"/>
          <p:nvPr/>
        </p:nvSpPr>
        <p:spPr>
          <a:xfrm>
            <a:off x="6720840" y="1545336"/>
            <a:ext cx="1737360" cy="365760"/>
          </a:xfrm>
          <a:prstGeom prst="rect">
            <a:avLst/>
          </a:prstGeom>
          <a:noFill/>
          <a:ln/>
        </p:spPr>
        <p:txBody>
          <a:bodyPr wrap="square" lIns="0" tIns="0" rIns="0" bIns="0" rtlCol="0" anchor="ctr"/>
          <a:lstStyle/>
          <a:p>
            <a:pPr indent="0" marL="0">
              <a:buNone/>
            </a:pPr>
            <a:r>
              <a:rPr lang="en-US" sz="1600" b="1" dirty="0">
                <a:solidFill>
                  <a:schemeClr val="bg1"/>
                </a:solidFill>
              </a:rPr>
              <a:t>I’m stuck</a:t>
            </a:r>
            <a:endParaRPr lang="en-US" sz="1600" dirty="0"/>
          </a:p>
        </p:txBody>
      </p:sp>
      <p:sp>
        <p:nvSpPr>
          <p:cNvPr id="15" name="anim-03-b"/>
          <p:cNvSpPr txBox="1"/>
          <p:nvPr/>
        </p:nvSpPr>
        <p:spPr>
          <a:xfrm>
            <a:off x="6263640" y="2039112"/>
            <a:ext cx="2148840" cy="685800"/>
          </a:xfrm>
          <a:prstGeom prst="rect">
            <a:avLst/>
          </a:prstGeom>
          <a:noFill/>
          <a:ln/>
        </p:spPr>
        <p:txBody>
          <a:bodyPr wrap="square" lIns="0" tIns="0" rIns="0" bIns="0" rtlCol="0" anchor="t"/>
          <a:lstStyle/>
          <a:p>
            <a:pPr indent="0" marL="0">
              <a:buNone/>
            </a:pPr>
            <a:r>
              <a:rPr lang="en-US" sz="1400" dirty="0">
                <a:solidFill>
                  <a:schemeClr val="bg2"/>
                </a:solidFill>
              </a:rPr>
              <a:t>Your error, the related code and live web sources together.</a:t>
            </a:r>
            <a:endParaRPr lang="en-US" sz="1400" dirty="0"/>
          </a:p>
        </p:txBody>
      </p:sp>
      <p:sp>
        <p:nvSpPr>
          <p:cNvPr id="16" name="anim-04-card"/>
          <p:cNvSpPr/>
          <p:nvPr/>
        </p:nvSpPr>
        <p:spPr>
          <a:xfrm>
            <a:off x="548640" y="3017520"/>
            <a:ext cx="2560320" cy="1508760"/>
          </a:xfrm>
          <a:prstGeom prst="roundRect">
            <a:avLst>
              <a:gd name="adj" fmla="val 6061"/>
            </a:avLst>
          </a:prstGeom>
          <a:solidFill>
            <a:schemeClr val="tx2"/>
          </a:solidFill>
          <a:ln w="12700">
            <a:solidFill>
              <a:schemeClr val="accent5"/>
            </a:solidFill>
            <a:prstDash val="solid"/>
          </a:ln>
        </p:spPr>
      </p:sp>
      <p:pic>
        <p:nvPicPr>
          <p:cNvPr id="17" name="anim-04-icon" descr="preencoded.png">    </p:cNvPr>
          <p:cNvPicPr>
            <a:picLocks noChangeAspect="1"/>
          </p:cNvPicPr>
          <p:nvPr/>
        </p:nvPicPr>
        <p:blipFill>
          <a:blip r:embed="rId4"/>
          <a:stretch>
            <a:fillRect/>
          </a:stretch>
        </p:blipFill>
        <p:spPr>
          <a:xfrm>
            <a:off x="777240" y="3246120"/>
            <a:ext cx="329184" cy="329184"/>
          </a:xfrm>
          <a:prstGeom prst="rect">
            <a:avLst/>
          </a:prstGeom>
        </p:spPr>
      </p:pic>
      <p:sp>
        <p:nvSpPr>
          <p:cNvPr id="18" name="anim-04-h"/>
          <p:cNvSpPr txBox="1"/>
          <p:nvPr/>
        </p:nvSpPr>
        <p:spPr>
          <a:xfrm>
            <a:off x="1234440" y="3236976"/>
            <a:ext cx="1737360" cy="365760"/>
          </a:xfrm>
          <a:prstGeom prst="rect">
            <a:avLst/>
          </a:prstGeom>
          <a:noFill/>
          <a:ln/>
        </p:spPr>
        <p:txBody>
          <a:bodyPr wrap="square" lIns="0" tIns="0" rIns="0" bIns="0" rtlCol="0" anchor="ctr"/>
          <a:lstStyle/>
          <a:p>
            <a:pPr indent="0" marL="0">
              <a:buNone/>
            </a:pPr>
            <a:r>
              <a:rPr lang="en-US" sz="1600" b="1" dirty="0">
                <a:solidFill>
                  <a:schemeClr val="bg1"/>
                </a:solidFill>
              </a:rPr>
              <a:t>Change impact</a:t>
            </a:r>
            <a:endParaRPr lang="en-US" sz="1600" dirty="0"/>
          </a:p>
        </p:txBody>
      </p:sp>
      <p:sp>
        <p:nvSpPr>
          <p:cNvPr id="19" name="anim-04-b"/>
          <p:cNvSpPr txBox="1"/>
          <p:nvPr/>
        </p:nvSpPr>
        <p:spPr>
          <a:xfrm>
            <a:off x="777240" y="3730752"/>
            <a:ext cx="2148840" cy="685800"/>
          </a:xfrm>
          <a:prstGeom prst="rect">
            <a:avLst/>
          </a:prstGeom>
          <a:noFill/>
          <a:ln/>
        </p:spPr>
        <p:txBody>
          <a:bodyPr wrap="square" lIns="0" tIns="0" rIns="0" bIns="0" rtlCol="0" anchor="t"/>
          <a:lstStyle/>
          <a:p>
            <a:pPr indent="0" marL="0">
              <a:buNone/>
            </a:pPr>
            <a:r>
              <a:rPr lang="en-US" sz="1400" dirty="0">
                <a:solidFill>
                  <a:schemeClr val="bg2"/>
                </a:solidFill>
              </a:rPr>
              <a:t>Every dependent, test and entry point a change can reach.</a:t>
            </a:r>
            <a:endParaRPr lang="en-US" sz="1400" dirty="0"/>
          </a:p>
        </p:txBody>
      </p:sp>
      <p:sp>
        <p:nvSpPr>
          <p:cNvPr id="20" name="anim-05-card"/>
          <p:cNvSpPr/>
          <p:nvPr/>
        </p:nvSpPr>
        <p:spPr>
          <a:xfrm>
            <a:off x="3291840" y="3017520"/>
            <a:ext cx="2560320" cy="1508760"/>
          </a:xfrm>
          <a:prstGeom prst="roundRect">
            <a:avLst>
              <a:gd name="adj" fmla="val 6061"/>
            </a:avLst>
          </a:prstGeom>
          <a:solidFill>
            <a:schemeClr val="tx2"/>
          </a:solidFill>
          <a:ln w="12700">
            <a:solidFill>
              <a:schemeClr val="accent5"/>
            </a:solidFill>
            <a:prstDash val="solid"/>
          </a:ln>
        </p:spPr>
      </p:sp>
      <p:pic>
        <p:nvPicPr>
          <p:cNvPr id="21" name="anim-05-icon" descr="preencoded.png">    </p:cNvPr>
          <p:cNvPicPr>
            <a:picLocks noChangeAspect="1"/>
          </p:cNvPicPr>
          <p:nvPr/>
        </p:nvPicPr>
        <p:blipFill>
          <a:blip r:embed="rId5"/>
          <a:stretch>
            <a:fillRect/>
          </a:stretch>
        </p:blipFill>
        <p:spPr>
          <a:xfrm>
            <a:off x="3520440" y="3246120"/>
            <a:ext cx="329184" cy="329184"/>
          </a:xfrm>
          <a:prstGeom prst="rect">
            <a:avLst/>
          </a:prstGeom>
        </p:spPr>
      </p:pic>
      <p:sp>
        <p:nvSpPr>
          <p:cNvPr id="22" name="anim-05-h"/>
          <p:cNvSpPr txBox="1"/>
          <p:nvPr/>
        </p:nvSpPr>
        <p:spPr>
          <a:xfrm>
            <a:off x="3977640" y="3236976"/>
            <a:ext cx="1737360" cy="365760"/>
          </a:xfrm>
          <a:prstGeom prst="rect">
            <a:avLst/>
          </a:prstGeom>
          <a:noFill/>
          <a:ln/>
        </p:spPr>
        <p:txBody>
          <a:bodyPr wrap="square" lIns="0" tIns="0" rIns="0" bIns="0" rtlCol="0" anchor="ctr"/>
          <a:lstStyle/>
          <a:p>
            <a:pPr indent="0" marL="0">
              <a:buNone/>
            </a:pPr>
            <a:r>
              <a:rPr lang="en-US" sz="1600" b="1" dirty="0">
                <a:solidFill>
                  <a:schemeClr val="bg1"/>
                </a:solidFill>
              </a:rPr>
              <a:t>Learning path</a:t>
            </a:r>
            <a:endParaRPr lang="en-US" sz="1600" dirty="0"/>
          </a:p>
        </p:txBody>
      </p:sp>
      <p:sp>
        <p:nvSpPr>
          <p:cNvPr id="23" name="anim-05-b"/>
          <p:cNvSpPr txBox="1"/>
          <p:nvPr/>
        </p:nvSpPr>
        <p:spPr>
          <a:xfrm>
            <a:off x="3520440" y="3730752"/>
            <a:ext cx="2148840" cy="685800"/>
          </a:xfrm>
          <a:prstGeom prst="rect">
            <a:avLst/>
          </a:prstGeom>
          <a:noFill/>
          <a:ln/>
        </p:spPr>
        <p:txBody>
          <a:bodyPr wrap="square" lIns="0" tIns="0" rIns="0" bIns="0" rtlCol="0" anchor="t"/>
          <a:lstStyle/>
          <a:p>
            <a:pPr indent="0" marL="0">
              <a:buNone/>
            </a:pPr>
            <a:r>
              <a:rPr lang="en-US" sz="1400" dirty="0">
                <a:solidFill>
                  <a:schemeClr val="bg2"/>
                </a:solidFill>
              </a:rPr>
              <a:t>A cited codebase guide and a step-by-step route.</a:t>
            </a:r>
            <a:endParaRPr lang="en-US" sz="1400" dirty="0"/>
          </a:p>
        </p:txBody>
      </p:sp>
      <p:sp>
        <p:nvSpPr>
          <p:cNvPr id="24" name="anim-06-card"/>
          <p:cNvSpPr/>
          <p:nvPr/>
        </p:nvSpPr>
        <p:spPr>
          <a:xfrm>
            <a:off x="6035040" y="3017520"/>
            <a:ext cx="2560320" cy="1508760"/>
          </a:xfrm>
          <a:prstGeom prst="roundRect">
            <a:avLst>
              <a:gd name="adj" fmla="val 6061"/>
            </a:avLst>
          </a:prstGeom>
          <a:solidFill>
            <a:schemeClr val="tx2"/>
          </a:solidFill>
          <a:ln w="12700">
            <a:solidFill>
              <a:schemeClr val="accent5"/>
            </a:solidFill>
            <a:prstDash val="solid"/>
          </a:ln>
        </p:spPr>
      </p:sp>
      <p:pic>
        <p:nvPicPr>
          <p:cNvPr id="25" name="anim-06-icon" descr="preencoded.png">    </p:cNvPr>
          <p:cNvPicPr>
            <a:picLocks noChangeAspect="1"/>
          </p:cNvPicPr>
          <p:nvPr/>
        </p:nvPicPr>
        <p:blipFill>
          <a:blip r:embed="rId6"/>
          <a:stretch>
            <a:fillRect/>
          </a:stretch>
        </p:blipFill>
        <p:spPr>
          <a:xfrm>
            <a:off x="6263640" y="3246120"/>
            <a:ext cx="329184" cy="329184"/>
          </a:xfrm>
          <a:prstGeom prst="rect">
            <a:avLst/>
          </a:prstGeom>
        </p:spPr>
      </p:pic>
      <p:sp>
        <p:nvSpPr>
          <p:cNvPr id="26" name="anim-06-h"/>
          <p:cNvSpPr txBox="1"/>
          <p:nvPr/>
        </p:nvSpPr>
        <p:spPr>
          <a:xfrm>
            <a:off x="6720840" y="3236976"/>
            <a:ext cx="1737360" cy="365760"/>
          </a:xfrm>
          <a:prstGeom prst="rect">
            <a:avLst/>
          </a:prstGeom>
          <a:noFill/>
          <a:ln/>
        </p:spPr>
        <p:txBody>
          <a:bodyPr wrap="square" lIns="0" tIns="0" rIns="0" bIns="0" rtlCol="0" anchor="ctr"/>
          <a:lstStyle/>
          <a:p>
            <a:pPr indent="0" marL="0">
              <a:buNone/>
            </a:pPr>
            <a:r>
              <a:rPr lang="en-US" sz="1600" b="1" dirty="0">
                <a:solidFill>
                  <a:schemeClr val="bg1"/>
                </a:solidFill>
              </a:rPr>
              <a:t>Code Tutor</a:t>
            </a:r>
            <a:endParaRPr lang="en-US" sz="1600" dirty="0"/>
          </a:p>
        </p:txBody>
      </p:sp>
      <p:sp>
        <p:nvSpPr>
          <p:cNvPr id="27" name="anim-06-b"/>
          <p:cNvSpPr txBox="1"/>
          <p:nvPr/>
        </p:nvSpPr>
        <p:spPr>
          <a:xfrm>
            <a:off x="6263640" y="3730752"/>
            <a:ext cx="2148840" cy="685800"/>
          </a:xfrm>
          <a:prstGeom prst="rect">
            <a:avLst/>
          </a:prstGeom>
          <a:noFill/>
          <a:ln/>
        </p:spPr>
        <p:txBody>
          <a:bodyPr wrap="square" lIns="0" tIns="0" rIns="0" bIns="0" rtlCol="0" anchor="t"/>
          <a:lstStyle/>
          <a:p>
            <a:pPr indent="0" marL="0">
              <a:buNone/>
            </a:pPr>
            <a:r>
              <a:rPr lang="en-US" sz="1400" dirty="0">
                <a:solidFill>
                  <a:schemeClr val="bg2"/>
                </a:solidFill>
              </a:rPr>
              <a:t>Run code in a sandbox, then explain, fix and verify.</a:t>
            </a:r>
            <a:endParaRPr lang="en-US" sz="1400" dirty="0"/>
          </a:p>
        </p:txBody>
      </p:sp>
      <p:sp>
        <p:nvSpPr>
          <p:cNvPr id="25" name="Slide Number Placeholder 0"/>
          <p:cNvSpPr>
            <a:spLocks noGrp="1"/>
          </p:cNvSpPr>
          <p:nvPr>
            <p:ph type="sldNum" sz="quarter" idx="4294967295"/>
          </p:nvPr>
        </p:nvSpPr>
        <p:spPr>
          <a:xfrm>
            <a:off x="8138160" y="473659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5857F"/>
                </a:solidFill>
                <a:latin typeface="Courier New"/>
                <a:ea typeface="Courier New"/>
                <a:cs typeface="Courier New"/>
              </a:defRPr>
            </a:lvl1pPr>
          </a:lstStyle>
          <a:p>
            <a:pPr algn="r"/>
            <a:fld id="{F7021451-1387-4CA6-816F-3879F97B5CBC}" type="slidenum">
              <a:rPr b="0" lang="en-US"/>
              <a:t>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600"/>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600"/>
                                        <p:tgtEl>
                                          <p:spTgt spid="6"/>
                                        </p:tgtEl>
                                      </p:cBhvr>
                                    </p:animEffect>
                                  </p:childTnLst>
                                </p:cTn>
                              </p:par>
                              <p:par>
                                <p:cTn id="14" presetID="10" presetClass="entr" presetSubtype="0" fill="hold"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600"/>
                                        <p:tgtEl>
                                          <p:spTgt spid="7"/>
                                        </p:tgtEl>
                                      </p:cBhvr>
                                    </p:animEffect>
                                  </p:childTnLst>
                                </p:cTn>
                              </p:par>
                            </p:childTnLst>
                          </p:cTn>
                        </p:par>
                        <p:par>
                          <p:cTn id="17" fill="hold">
                            <p:stCondLst>
                              <p:cond delay="280"/>
                            </p:stCondLst>
                            <p:childTnLst>
                              <p:par>
                                <p:cTn id="18" presetID="10" presetClass="entr" presetSubtype="0" fill="hold"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600"/>
                                        <p:tgtEl>
                                          <p:spTgt spid="8"/>
                                        </p:tgtEl>
                                      </p:cBhvr>
                                    </p:animEffect>
                                  </p:childTnLst>
                                </p:cTn>
                              </p:par>
                              <p:par>
                                <p:cTn id="21" presetID="10" presetClass="entr" presetSubtype="0" fill="hold"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600"/>
                                        <p:tgtEl>
                                          <p:spTgt spid="9"/>
                                        </p:tgtEl>
                                      </p:cBhvr>
                                    </p:animEffect>
                                  </p:childTnLst>
                                </p:cTn>
                              </p:par>
                              <p:par>
                                <p:cTn id="24" presetID="10" presetClass="entr" presetSubtype="0" fill="hold"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600"/>
                                        <p:tgtEl>
                                          <p:spTgt spid="10"/>
                                        </p:tgtEl>
                                      </p:cBhvr>
                                    </p:animEffect>
                                  </p:childTnLst>
                                </p:cTn>
                              </p:par>
                              <p:par>
                                <p:cTn id="27" presetID="10" presetClass="entr" presetSubtype="0" fill="hold"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600"/>
                                        <p:tgtEl>
                                          <p:spTgt spid="11"/>
                                        </p:tgtEl>
                                      </p:cBhvr>
                                    </p:animEffect>
                                  </p:childTnLst>
                                </p:cTn>
                              </p:par>
                            </p:childTnLst>
                          </p:cTn>
                        </p:par>
                        <p:par>
                          <p:cTn id="30" fill="hold">
                            <p:stCondLst>
                              <p:cond delay="560"/>
                            </p:stCondLst>
                            <p:childTnLst>
                              <p:par>
                                <p:cTn id="31" presetID="10" presetClass="entr" presetSubtype="0" fill="hold" nodeType="with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600"/>
                                        <p:tgtEl>
                                          <p:spTgt spid="12"/>
                                        </p:tgtEl>
                                      </p:cBhvr>
                                    </p:animEffect>
                                  </p:childTnLst>
                                </p:cTn>
                              </p:par>
                              <p:par>
                                <p:cTn id="34" presetID="10" presetClass="entr" presetSubtype="0" fill="hold"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600"/>
                                        <p:tgtEl>
                                          <p:spTgt spid="13"/>
                                        </p:tgtEl>
                                      </p:cBhvr>
                                    </p:animEffect>
                                  </p:childTnLst>
                                </p:cTn>
                              </p:par>
                              <p:par>
                                <p:cTn id="37" presetID="10" presetClass="entr" presetSubtype="0" fill="hold"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600"/>
                                        <p:tgtEl>
                                          <p:spTgt spid="14"/>
                                        </p:tgtEl>
                                      </p:cBhvr>
                                    </p:animEffect>
                                  </p:childTnLst>
                                </p:cTn>
                              </p:par>
                              <p:par>
                                <p:cTn id="40" presetID="10" presetClass="entr" presetSubtype="0" fill="hold"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600"/>
                                        <p:tgtEl>
                                          <p:spTgt spid="15"/>
                                        </p:tgtEl>
                                      </p:cBhvr>
                                    </p:animEffect>
                                  </p:childTnLst>
                                </p:cTn>
                              </p:par>
                            </p:childTnLst>
                          </p:cTn>
                        </p:par>
                        <p:par>
                          <p:cTn id="43" fill="hold">
                            <p:stCondLst>
                              <p:cond delay="840"/>
                            </p:stCondLst>
                            <p:childTnLst>
                              <p:par>
                                <p:cTn id="44" presetID="10" presetClass="entr" presetSubtype="0" fill="hold" nodeType="with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600"/>
                                        <p:tgtEl>
                                          <p:spTgt spid="16"/>
                                        </p:tgtEl>
                                      </p:cBhvr>
                                    </p:animEffect>
                                  </p:childTnLst>
                                </p:cTn>
                              </p:par>
                              <p:par>
                                <p:cTn id="47" presetID="10" presetClass="entr" presetSubtype="0" fill="hold" nodeType="with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600"/>
                                        <p:tgtEl>
                                          <p:spTgt spid="17"/>
                                        </p:tgtEl>
                                      </p:cBhvr>
                                    </p:animEffect>
                                  </p:childTnLst>
                                </p:cTn>
                              </p:par>
                              <p:par>
                                <p:cTn id="50" presetID="10" presetClass="entr" presetSubtype="0" fill="hold"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600"/>
                                        <p:tgtEl>
                                          <p:spTgt spid="18"/>
                                        </p:tgtEl>
                                      </p:cBhvr>
                                    </p:animEffect>
                                  </p:childTnLst>
                                </p:cTn>
                              </p:par>
                              <p:par>
                                <p:cTn id="53" presetID="10" presetClass="entr" presetSubtype="0" fill="hold"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600"/>
                                        <p:tgtEl>
                                          <p:spTgt spid="19"/>
                                        </p:tgtEl>
                                      </p:cBhvr>
                                    </p:animEffect>
                                  </p:childTnLst>
                                </p:cTn>
                              </p:par>
                            </p:childTnLst>
                          </p:cTn>
                        </p:par>
                        <p:par>
                          <p:cTn id="56" fill="hold">
                            <p:stCondLst>
                              <p:cond delay="1120"/>
                            </p:stCondLst>
                            <p:childTnLst>
                              <p:par>
                                <p:cTn id="57" presetID="10" presetClass="entr" presetSubtype="0" fill="hold" nodeType="withEffect">
                                  <p:stCondLst>
                                    <p:cond delay="0"/>
                                  </p:stCondLst>
                                  <p:childTnLst>
                                    <p:set>
                                      <p:cBhvr>
                                        <p:cTn id="58" dur="1" fill="hold">
                                          <p:stCondLst>
                                            <p:cond delay="0"/>
                                          </p:stCondLst>
                                        </p:cTn>
                                        <p:tgtEl>
                                          <p:spTgt spid="20"/>
                                        </p:tgtEl>
                                        <p:attrNameLst>
                                          <p:attrName>style.visibility</p:attrName>
                                        </p:attrNameLst>
                                      </p:cBhvr>
                                      <p:to>
                                        <p:strVal val="visible"/>
                                      </p:to>
                                    </p:set>
                                    <p:animEffect transition="in" filter="fade">
                                      <p:cBhvr>
                                        <p:cTn id="59" dur="600"/>
                                        <p:tgtEl>
                                          <p:spTgt spid="20"/>
                                        </p:tgtEl>
                                      </p:cBhvr>
                                    </p:animEffect>
                                  </p:childTnLst>
                                </p:cTn>
                              </p:par>
                              <p:par>
                                <p:cTn id="60" presetID="10" presetClass="entr" presetSubtype="0" fill="hold" nodeType="withEffect">
                                  <p:stCondLst>
                                    <p:cond delay="0"/>
                                  </p:stCondLst>
                                  <p:childTnLst>
                                    <p:set>
                                      <p:cBhvr>
                                        <p:cTn id="61" dur="1" fill="hold">
                                          <p:stCondLst>
                                            <p:cond delay="0"/>
                                          </p:stCondLst>
                                        </p:cTn>
                                        <p:tgtEl>
                                          <p:spTgt spid="21"/>
                                        </p:tgtEl>
                                        <p:attrNameLst>
                                          <p:attrName>style.visibility</p:attrName>
                                        </p:attrNameLst>
                                      </p:cBhvr>
                                      <p:to>
                                        <p:strVal val="visible"/>
                                      </p:to>
                                    </p:set>
                                    <p:animEffect transition="in" filter="fade">
                                      <p:cBhvr>
                                        <p:cTn id="62" dur="600"/>
                                        <p:tgtEl>
                                          <p:spTgt spid="21"/>
                                        </p:tgtEl>
                                      </p:cBhvr>
                                    </p:animEffect>
                                  </p:childTnLst>
                                </p:cTn>
                              </p:par>
                              <p:par>
                                <p:cTn id="63" presetID="10" presetClass="entr" presetSubtype="0" fill="hold" nodeType="withEffect">
                                  <p:stCondLst>
                                    <p:cond delay="0"/>
                                  </p:stCondLst>
                                  <p:childTnLst>
                                    <p:set>
                                      <p:cBhvr>
                                        <p:cTn id="64" dur="1" fill="hold">
                                          <p:stCondLst>
                                            <p:cond delay="0"/>
                                          </p:stCondLst>
                                        </p:cTn>
                                        <p:tgtEl>
                                          <p:spTgt spid="22"/>
                                        </p:tgtEl>
                                        <p:attrNameLst>
                                          <p:attrName>style.visibility</p:attrName>
                                        </p:attrNameLst>
                                      </p:cBhvr>
                                      <p:to>
                                        <p:strVal val="visible"/>
                                      </p:to>
                                    </p:set>
                                    <p:animEffect transition="in" filter="fade">
                                      <p:cBhvr>
                                        <p:cTn id="65" dur="600"/>
                                        <p:tgtEl>
                                          <p:spTgt spid="22"/>
                                        </p:tgtEl>
                                      </p:cBhvr>
                                    </p:animEffect>
                                  </p:childTnLst>
                                </p:cTn>
                              </p:par>
                              <p:par>
                                <p:cTn id="66" presetID="10" presetClass="entr" presetSubtype="0" fill="hold" nodeType="withEffect">
                                  <p:stCondLst>
                                    <p:cond delay="0"/>
                                  </p:stCondLst>
                                  <p:childTnLst>
                                    <p:set>
                                      <p:cBhvr>
                                        <p:cTn id="67" dur="1" fill="hold">
                                          <p:stCondLst>
                                            <p:cond delay="0"/>
                                          </p:stCondLst>
                                        </p:cTn>
                                        <p:tgtEl>
                                          <p:spTgt spid="23"/>
                                        </p:tgtEl>
                                        <p:attrNameLst>
                                          <p:attrName>style.visibility</p:attrName>
                                        </p:attrNameLst>
                                      </p:cBhvr>
                                      <p:to>
                                        <p:strVal val="visible"/>
                                      </p:to>
                                    </p:set>
                                    <p:animEffect transition="in" filter="fade">
                                      <p:cBhvr>
                                        <p:cTn id="68" dur="600"/>
                                        <p:tgtEl>
                                          <p:spTgt spid="23"/>
                                        </p:tgtEl>
                                      </p:cBhvr>
                                    </p:animEffect>
                                  </p:childTnLst>
                                </p:cTn>
                              </p:par>
                            </p:childTnLst>
                          </p:cTn>
                        </p:par>
                        <p:par>
                          <p:cTn id="69" fill="hold">
                            <p:stCondLst>
                              <p:cond delay="1400"/>
                            </p:stCondLst>
                            <p:childTnLst>
                              <p:par>
                                <p:cTn id="70" presetID="10" presetClass="entr" presetSubtype="0" fill="hold" nodeType="withEffect">
                                  <p:stCondLst>
                                    <p:cond delay="0"/>
                                  </p:stCondLst>
                                  <p:childTnLst>
                                    <p:set>
                                      <p:cBhvr>
                                        <p:cTn id="71" dur="1" fill="hold">
                                          <p:stCondLst>
                                            <p:cond delay="0"/>
                                          </p:stCondLst>
                                        </p:cTn>
                                        <p:tgtEl>
                                          <p:spTgt spid="24"/>
                                        </p:tgtEl>
                                        <p:attrNameLst>
                                          <p:attrName>style.visibility</p:attrName>
                                        </p:attrNameLst>
                                      </p:cBhvr>
                                      <p:to>
                                        <p:strVal val="visible"/>
                                      </p:to>
                                    </p:set>
                                    <p:animEffect transition="in" filter="fade">
                                      <p:cBhvr>
                                        <p:cTn id="72" dur="600"/>
                                        <p:tgtEl>
                                          <p:spTgt spid="24"/>
                                        </p:tgtEl>
                                      </p:cBhvr>
                                    </p:animEffect>
                                  </p:childTnLst>
                                </p:cTn>
                              </p:par>
                              <p:par>
                                <p:cTn id="73" presetID="10" presetClass="entr" presetSubtype="0" fill="hold" nodeType="withEffect">
                                  <p:stCondLst>
                                    <p:cond delay="0"/>
                                  </p:stCondLst>
                                  <p:childTnLst>
                                    <p:set>
                                      <p:cBhvr>
                                        <p:cTn id="74" dur="1" fill="hold">
                                          <p:stCondLst>
                                            <p:cond delay="0"/>
                                          </p:stCondLst>
                                        </p:cTn>
                                        <p:tgtEl>
                                          <p:spTgt spid="25"/>
                                        </p:tgtEl>
                                        <p:attrNameLst>
                                          <p:attrName>style.visibility</p:attrName>
                                        </p:attrNameLst>
                                      </p:cBhvr>
                                      <p:to>
                                        <p:strVal val="visible"/>
                                      </p:to>
                                    </p:set>
                                    <p:animEffect transition="in" filter="fade">
                                      <p:cBhvr>
                                        <p:cTn id="75" dur="600"/>
                                        <p:tgtEl>
                                          <p:spTgt spid="25"/>
                                        </p:tgtEl>
                                      </p:cBhvr>
                                    </p:animEffect>
                                  </p:childTnLst>
                                </p:cTn>
                              </p:par>
                              <p:par>
                                <p:cTn id="76" presetID="10" presetClass="entr" presetSubtype="0" fill="hold" nodeType="withEffect">
                                  <p:stCondLst>
                                    <p:cond delay="0"/>
                                  </p:stCondLst>
                                  <p:childTnLst>
                                    <p:set>
                                      <p:cBhvr>
                                        <p:cTn id="77" dur="1" fill="hold">
                                          <p:stCondLst>
                                            <p:cond delay="0"/>
                                          </p:stCondLst>
                                        </p:cTn>
                                        <p:tgtEl>
                                          <p:spTgt spid="26"/>
                                        </p:tgtEl>
                                        <p:attrNameLst>
                                          <p:attrName>style.visibility</p:attrName>
                                        </p:attrNameLst>
                                      </p:cBhvr>
                                      <p:to>
                                        <p:strVal val="visible"/>
                                      </p:to>
                                    </p:set>
                                    <p:animEffect transition="in" filter="fade">
                                      <p:cBhvr>
                                        <p:cTn id="78" dur="600"/>
                                        <p:tgtEl>
                                          <p:spTgt spid="26"/>
                                        </p:tgtEl>
                                      </p:cBhvr>
                                    </p:animEffect>
                                  </p:childTnLst>
                                </p:cTn>
                              </p:par>
                              <p:par>
                                <p:cTn id="79" presetID="10" presetClass="entr" presetSubtype="0" fill="hold" nodeType="withEffect">
                                  <p:stCondLst>
                                    <p:cond delay="0"/>
                                  </p:stCondLst>
                                  <p:childTnLst>
                                    <p:set>
                                      <p:cBhvr>
                                        <p:cTn id="80" dur="1" fill="hold">
                                          <p:stCondLst>
                                            <p:cond delay="0"/>
                                          </p:stCondLst>
                                        </p:cTn>
                                        <p:tgtEl>
                                          <p:spTgt spid="27"/>
                                        </p:tgtEl>
                                        <p:attrNameLst>
                                          <p:attrName>style.visibility</p:attrName>
                                        </p:attrNameLst>
                                      </p:cBhvr>
                                      <p:to>
                                        <p:strVal val="visible"/>
                                      </p:to>
                                    </p:set>
                                    <p:animEffect transition="in" filter="fade">
                                      <p:cBhvr>
                                        <p:cTn id="81" dur="6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046720" cy="237744"/>
          </a:xfrm>
          <a:prstGeom prst="rect">
            <a:avLst/>
          </a:prstGeom>
          <a:noFill/>
          <a:ln/>
        </p:spPr>
        <p:txBody>
          <a:bodyPr wrap="square" lIns="0" tIns="0" rIns="0" bIns="0" rtlCol="0" anchor="t"/>
          <a:lstStyle/>
          <a:p>
            <a:pPr algn="l" indent="0" marL="0">
              <a:buNone/>
            </a:pPr>
            <a:r>
              <a:rPr lang="en-US" sz="1100" spc="300" kern="0" dirty="0">
                <a:solidFill>
                  <a:schemeClr val="accent1"/>
                </a:solidFill>
                <a:latin typeface="Courier New" pitchFamily="34" charset="0"/>
                <a:ea typeface="Courier New" pitchFamily="34" charset="-122"/>
                <a:cs typeface="Courier New" pitchFamily="34" charset="-120"/>
              </a:rPr>
              <a:t>HOW IT WORKS</a:t>
            </a:r>
            <a:endParaRPr lang="en-US" sz="1100" dirty="0"/>
          </a:p>
        </p:txBody>
      </p:sp>
      <p:sp>
        <p:nvSpPr>
          <p:cNvPr id="3" name="Text 0"/>
          <p:cNvSpPr/>
          <p:nvPr>
            <p:ph idx="101" type="title" hasCustomPrompt="1"/>
          </p:nvPr>
        </p:nvSpPr>
        <p:spPr>
          <a:xfrm>
            <a:off x="548640" y="548640"/>
            <a:ext cx="8046720" cy="566928"/>
          </a:xfrm>
          <a:prstGeom prst="rect">
            <a:avLst/>
          </a:prstGeom>
          <a:noFill/>
          <a:ln/>
        </p:spPr>
        <p:txBody>
          <a:bodyPr wrap="square" lIns="0" tIns="0" rIns="0" bIns="0" rtlCol="0" anchor="t"/>
          <a:lstStyle/>
          <a:p>
            <a:pPr algn="l" indent="0" marL="0">
              <a:buNone/>
            </a:pPr>
            <a:r>
              <a:rPr lang="en-US" sz="3000" b="1" dirty="0">
                <a:solidFill>
                  <a:schemeClr val="bg1"/>
                </a:solidFill>
              </a:rPr>
              <a:t>From repository to map</a:t>
            </a:r>
            <a:endParaRPr lang="en-US" sz="3000" dirty="0"/>
          </a:p>
        </p:txBody>
      </p:sp>
      <p:pic>
        <p:nvPicPr>
          <p:cNvPr id="4" name="gif-pipeline" descr="Animated pipeline: a packet moves through four numbered stages">    </p:cNvPr>
          <p:cNvPicPr>
            <a:picLocks noChangeAspect="1"/>
          </p:cNvPicPr>
          <p:nvPr/>
        </p:nvPicPr>
        <p:blipFill>
          <a:blip r:embed="rId1"/>
          <a:stretch>
            <a:fillRect/>
          </a:stretch>
        </p:blipFill>
        <p:spPr>
          <a:xfrm>
            <a:off x="548640" y="1325880"/>
            <a:ext cx="8046720" cy="1066190"/>
          </a:xfrm>
          <a:prstGeom prst="rect">
            <a:avLst/>
          </a:prstGeom>
        </p:spPr>
      </p:pic>
      <p:sp>
        <p:nvSpPr>
          <p:cNvPr id="5" name="anim-01-h"/>
          <p:cNvSpPr txBox="1"/>
          <p:nvPr/>
        </p:nvSpPr>
        <p:spPr>
          <a:xfrm>
            <a:off x="548640" y="2697480"/>
            <a:ext cx="1874520" cy="365760"/>
          </a:xfrm>
          <a:prstGeom prst="rect">
            <a:avLst/>
          </a:prstGeom>
          <a:noFill/>
          <a:ln/>
        </p:spPr>
        <p:txBody>
          <a:bodyPr wrap="square" lIns="0" tIns="0" rIns="0" bIns="0" rtlCol="0" anchor="ctr"/>
          <a:lstStyle/>
          <a:p>
            <a:pPr indent="0" marL="0">
              <a:buNone/>
            </a:pPr>
            <a:r>
              <a:rPr lang="en-US" sz="1800" b="1" dirty="0">
                <a:solidFill>
                  <a:schemeClr val="bg1"/>
                </a:solidFill>
              </a:rPr>
              <a:t>Import</a:t>
            </a:r>
            <a:endParaRPr lang="en-US" sz="1800" dirty="0"/>
          </a:p>
        </p:txBody>
      </p:sp>
      <p:sp>
        <p:nvSpPr>
          <p:cNvPr id="6" name="anim-01-b"/>
          <p:cNvSpPr txBox="1"/>
          <p:nvPr/>
        </p:nvSpPr>
        <p:spPr>
          <a:xfrm>
            <a:off x="548640" y="3108960"/>
            <a:ext cx="1874520" cy="1280160"/>
          </a:xfrm>
          <a:prstGeom prst="rect">
            <a:avLst/>
          </a:prstGeom>
          <a:noFill/>
          <a:ln/>
        </p:spPr>
        <p:txBody>
          <a:bodyPr wrap="square" lIns="0" tIns="0" rIns="0" bIns="0" rtlCol="0" anchor="t"/>
          <a:lstStyle/>
          <a:p>
            <a:pPr indent="0" marL="0">
              <a:buNone/>
            </a:pPr>
            <a:r>
              <a:rPr lang="en-US" sz="1400" dirty="0">
                <a:solidFill>
                  <a:schemeClr val="bg2"/>
                </a:solidFill>
              </a:rPr>
              <a:t>A GitHub URL or a ZIP upload. Secrets, binaries and build output are filtered out.</a:t>
            </a:r>
            <a:endParaRPr lang="en-US" sz="1400" dirty="0"/>
          </a:p>
        </p:txBody>
      </p:sp>
      <p:sp>
        <p:nvSpPr>
          <p:cNvPr id="7" name="anim-02-h"/>
          <p:cNvSpPr txBox="1"/>
          <p:nvPr/>
        </p:nvSpPr>
        <p:spPr>
          <a:xfrm>
            <a:off x="2606040" y="2697480"/>
            <a:ext cx="1874520" cy="365760"/>
          </a:xfrm>
          <a:prstGeom prst="rect">
            <a:avLst/>
          </a:prstGeom>
          <a:noFill/>
          <a:ln/>
        </p:spPr>
        <p:txBody>
          <a:bodyPr wrap="square" lIns="0" tIns="0" rIns="0" bIns="0" rtlCol="0" anchor="ctr"/>
          <a:lstStyle/>
          <a:p>
            <a:pPr indent="0" marL="0">
              <a:buNone/>
            </a:pPr>
            <a:r>
              <a:rPr lang="en-US" sz="1800" b="1" dirty="0">
                <a:solidFill>
                  <a:schemeClr val="bg1"/>
                </a:solidFill>
              </a:rPr>
              <a:t>Parse</a:t>
            </a:r>
            <a:endParaRPr lang="en-US" sz="1800" dirty="0"/>
          </a:p>
        </p:txBody>
      </p:sp>
      <p:sp>
        <p:nvSpPr>
          <p:cNvPr id="8" name="anim-02-b"/>
          <p:cNvSpPr txBox="1"/>
          <p:nvPr/>
        </p:nvSpPr>
        <p:spPr>
          <a:xfrm>
            <a:off x="2606040" y="3108960"/>
            <a:ext cx="1874520" cy="1280160"/>
          </a:xfrm>
          <a:prstGeom prst="rect">
            <a:avLst/>
          </a:prstGeom>
          <a:noFill/>
          <a:ln/>
        </p:spPr>
        <p:txBody>
          <a:bodyPr wrap="square" lIns="0" tIns="0" rIns="0" bIns="0" rtlCol="0" anchor="t"/>
          <a:lstStyle/>
          <a:p>
            <a:pPr indent="0" marL="0">
              <a:buNone/>
            </a:pPr>
            <a:r>
              <a:rPr lang="en-US" sz="1400" dirty="0">
                <a:solidFill>
                  <a:schemeClr val="bg2"/>
                </a:solidFill>
              </a:rPr>
              <a:t>Tree-sitter reads TypeScript, JavaScript, Python, Java, C and C++.</a:t>
            </a:r>
            <a:endParaRPr lang="en-US" sz="1400" dirty="0"/>
          </a:p>
        </p:txBody>
      </p:sp>
      <p:sp>
        <p:nvSpPr>
          <p:cNvPr id="9" name="anim-03-h"/>
          <p:cNvSpPr txBox="1"/>
          <p:nvPr/>
        </p:nvSpPr>
        <p:spPr>
          <a:xfrm>
            <a:off x="4663440" y="2697480"/>
            <a:ext cx="1874520" cy="365760"/>
          </a:xfrm>
          <a:prstGeom prst="rect">
            <a:avLst/>
          </a:prstGeom>
          <a:noFill/>
          <a:ln/>
        </p:spPr>
        <p:txBody>
          <a:bodyPr wrap="square" lIns="0" tIns="0" rIns="0" bIns="0" rtlCol="0" anchor="ctr"/>
          <a:lstStyle/>
          <a:p>
            <a:pPr indent="0" marL="0">
              <a:buNone/>
            </a:pPr>
            <a:r>
              <a:rPr lang="en-US" sz="1800" b="1" dirty="0">
                <a:solidFill>
                  <a:schemeClr val="bg1"/>
                </a:solidFill>
              </a:rPr>
              <a:t>Index</a:t>
            </a:r>
            <a:endParaRPr lang="en-US" sz="1800" dirty="0"/>
          </a:p>
        </p:txBody>
      </p:sp>
      <p:sp>
        <p:nvSpPr>
          <p:cNvPr id="10" name="anim-03-b"/>
          <p:cNvSpPr txBox="1"/>
          <p:nvPr/>
        </p:nvSpPr>
        <p:spPr>
          <a:xfrm>
            <a:off x="4663440" y="3108960"/>
            <a:ext cx="1874520" cy="1280160"/>
          </a:xfrm>
          <a:prstGeom prst="rect">
            <a:avLst/>
          </a:prstGeom>
          <a:noFill/>
          <a:ln/>
        </p:spPr>
        <p:txBody>
          <a:bodyPr wrap="square" lIns="0" tIns="0" rIns="0" bIns="0" rtlCol="0" anchor="t"/>
          <a:lstStyle/>
          <a:p>
            <a:pPr indent="0" marL="0">
              <a:buNone/>
            </a:pPr>
            <a:r>
              <a:rPr lang="en-US" sz="1400" dirty="0">
                <a:solidFill>
                  <a:schemeClr val="bg2"/>
                </a:solidFill>
              </a:rPr>
              <a:t>Files, symbols, imports and calls stored in Postgres with full-text search.</a:t>
            </a:r>
            <a:endParaRPr lang="en-US" sz="1400" dirty="0"/>
          </a:p>
        </p:txBody>
      </p:sp>
      <p:sp>
        <p:nvSpPr>
          <p:cNvPr id="11" name="anim-04-h"/>
          <p:cNvSpPr txBox="1"/>
          <p:nvPr/>
        </p:nvSpPr>
        <p:spPr>
          <a:xfrm>
            <a:off x="6720840" y="2697480"/>
            <a:ext cx="1874520" cy="365760"/>
          </a:xfrm>
          <a:prstGeom prst="rect">
            <a:avLst/>
          </a:prstGeom>
          <a:noFill/>
          <a:ln/>
        </p:spPr>
        <p:txBody>
          <a:bodyPr wrap="square" lIns="0" tIns="0" rIns="0" bIns="0" rtlCol="0" anchor="ctr"/>
          <a:lstStyle/>
          <a:p>
            <a:pPr indent="0" marL="0">
              <a:buNone/>
            </a:pPr>
            <a:r>
              <a:rPr lang="en-US" sz="1800" b="1" dirty="0">
                <a:solidFill>
                  <a:schemeClr val="accent1"/>
                </a:solidFill>
              </a:rPr>
              <a:t>Explore</a:t>
            </a:r>
            <a:endParaRPr lang="en-US" sz="1800" dirty="0"/>
          </a:p>
        </p:txBody>
      </p:sp>
      <p:sp>
        <p:nvSpPr>
          <p:cNvPr id="12" name="anim-04-b"/>
          <p:cNvSpPr txBox="1"/>
          <p:nvPr/>
        </p:nvSpPr>
        <p:spPr>
          <a:xfrm>
            <a:off x="6720840" y="3108960"/>
            <a:ext cx="1874520" cy="1280160"/>
          </a:xfrm>
          <a:prstGeom prst="rect">
            <a:avLst/>
          </a:prstGeom>
          <a:noFill/>
          <a:ln/>
        </p:spPr>
        <p:txBody>
          <a:bodyPr wrap="square" lIns="0" tIns="0" rIns="0" bIns="0" rtlCol="0" anchor="t"/>
          <a:lstStyle/>
          <a:p>
            <a:pPr indent="0" marL="0">
              <a:buNone/>
            </a:pPr>
            <a:r>
              <a:rPr lang="en-US" sz="1400" dirty="0">
                <a:solidFill>
                  <a:schemeClr val="bg2"/>
                </a:solidFill>
              </a:rPr>
              <a:t>An Atlas graph, change impact, a cited guide and a learning path.</a:t>
            </a:r>
            <a:endParaRPr lang="en-US" sz="1400" dirty="0"/>
          </a:p>
        </p:txBody>
      </p:sp>
      <p:sp>
        <p:nvSpPr>
          <p:cNvPr id="25" name="Slide Number Placeholder 0"/>
          <p:cNvSpPr>
            <a:spLocks noGrp="1"/>
          </p:cNvSpPr>
          <p:nvPr>
            <p:ph type="sldNum" sz="quarter" idx="4294967295"/>
          </p:nvPr>
        </p:nvSpPr>
        <p:spPr>
          <a:xfrm>
            <a:off x="8138160" y="473659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5857F"/>
                </a:solidFill>
                <a:latin typeface="Courier New"/>
                <a:ea typeface="Courier New"/>
                <a:cs typeface="Courier New"/>
              </a:defRPr>
            </a:lvl1pPr>
          </a:lstStyle>
          <a:p>
            <a:pPr algn="r"/>
            <a:fld id="{F7021451-1387-4CA6-816F-3879F97B5CBC}" type="slidenum">
              <a:rPr b="0" lang="en-US"/>
              <a:t>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600"/>
                                        <p:tgtEl>
                                          <p:spTgt spid="6"/>
                                        </p:tgtEl>
                                      </p:cBhvr>
                                    </p:animEffect>
                                  </p:childTnLst>
                                </p:cTn>
                              </p:par>
                            </p:childTnLst>
                          </p:cTn>
                        </p:par>
                        <p:par>
                          <p:cTn id="11" fill="hold">
                            <p:stCondLst>
                              <p:cond delay="280"/>
                            </p:stCondLst>
                            <p:childTnLst>
                              <p:par>
                                <p:cTn id="12" presetID="10" presetClass="entr" presetSubtype="0" fill="hold"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600"/>
                                        <p:tgtEl>
                                          <p:spTgt spid="7"/>
                                        </p:tgtEl>
                                      </p:cBhvr>
                                    </p:animEffect>
                                  </p:childTnLst>
                                </p:cTn>
                              </p:par>
                              <p:par>
                                <p:cTn id="15" presetID="10" presetClass="entr" presetSubtype="0" fill="hold"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600"/>
                                        <p:tgtEl>
                                          <p:spTgt spid="8"/>
                                        </p:tgtEl>
                                      </p:cBhvr>
                                    </p:animEffect>
                                  </p:childTnLst>
                                </p:cTn>
                              </p:par>
                            </p:childTnLst>
                          </p:cTn>
                        </p:par>
                        <p:par>
                          <p:cTn id="18" fill="hold">
                            <p:stCondLst>
                              <p:cond delay="560"/>
                            </p:stCondLst>
                            <p:childTnLst>
                              <p:par>
                                <p:cTn id="19" presetID="10" presetClass="entr" presetSubtype="0" fill="hold"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600"/>
                                        <p:tgtEl>
                                          <p:spTgt spid="9"/>
                                        </p:tgtEl>
                                      </p:cBhvr>
                                    </p:animEffect>
                                  </p:childTnLst>
                                </p:cTn>
                              </p:par>
                              <p:par>
                                <p:cTn id="22" presetID="10" presetClass="entr" presetSubtype="0" fill="hold"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600"/>
                                        <p:tgtEl>
                                          <p:spTgt spid="10"/>
                                        </p:tgtEl>
                                      </p:cBhvr>
                                    </p:animEffect>
                                  </p:childTnLst>
                                </p:cTn>
                              </p:par>
                            </p:childTnLst>
                          </p:cTn>
                        </p:par>
                        <p:par>
                          <p:cTn id="25" fill="hold">
                            <p:stCondLst>
                              <p:cond delay="840"/>
                            </p:stCondLst>
                            <p:childTnLst>
                              <p:par>
                                <p:cTn id="26" presetID="10" presetClass="entr" presetSubtype="0" fill="hold"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600"/>
                                        <p:tgtEl>
                                          <p:spTgt spid="11"/>
                                        </p:tgtEl>
                                      </p:cBhvr>
                                    </p:animEffect>
                                  </p:childTnLst>
                                </p:cTn>
                              </p:par>
                              <p:par>
                                <p:cTn id="29" presetID="10" presetClass="entr" presetSubtype="0" fill="hold"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6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046720" cy="237744"/>
          </a:xfrm>
          <a:prstGeom prst="rect">
            <a:avLst/>
          </a:prstGeom>
          <a:noFill/>
          <a:ln/>
        </p:spPr>
        <p:txBody>
          <a:bodyPr wrap="square" lIns="0" tIns="0" rIns="0" bIns="0" rtlCol="0" anchor="t"/>
          <a:lstStyle/>
          <a:p>
            <a:pPr algn="l" indent="0" marL="0">
              <a:buNone/>
            </a:pPr>
            <a:r>
              <a:rPr lang="en-US" sz="1100" spc="300" kern="0" dirty="0">
                <a:solidFill>
                  <a:schemeClr val="accent1"/>
                </a:solidFill>
                <a:latin typeface="Courier New" pitchFamily="34" charset="0"/>
                <a:ea typeface="Courier New" pitchFamily="34" charset="-122"/>
                <a:cs typeface="Courier New" pitchFamily="34" charset="-120"/>
              </a:rPr>
              <a:t>CODEBASE ATLAS</a:t>
            </a:r>
            <a:endParaRPr lang="en-US" sz="1100" dirty="0"/>
          </a:p>
        </p:txBody>
      </p:sp>
      <p:sp>
        <p:nvSpPr>
          <p:cNvPr id="3" name="Text 0"/>
          <p:cNvSpPr/>
          <p:nvPr>
            <p:ph idx="101" type="title" hasCustomPrompt="1"/>
          </p:nvPr>
        </p:nvSpPr>
        <p:spPr>
          <a:xfrm>
            <a:off x="548640" y="548640"/>
            <a:ext cx="8046720" cy="566928"/>
          </a:xfrm>
          <a:prstGeom prst="rect">
            <a:avLst/>
          </a:prstGeom>
          <a:noFill/>
          <a:ln/>
        </p:spPr>
        <p:txBody>
          <a:bodyPr wrap="square" lIns="0" tIns="0" rIns="0" bIns="0" rtlCol="0" anchor="t"/>
          <a:lstStyle/>
          <a:p>
            <a:pPr algn="l" indent="0" marL="0">
              <a:buNone/>
            </a:pPr>
            <a:r>
              <a:rPr lang="en-US" sz="3000" b="1" dirty="0">
                <a:solidFill>
                  <a:schemeClr val="bg1"/>
                </a:solidFill>
              </a:rPr>
              <a:t>See the structure, then the evidence</a:t>
            </a:r>
            <a:endParaRPr lang="en-US" sz="3000" dirty="0"/>
          </a:p>
        </p:txBody>
      </p:sp>
      <p:sp>
        <p:nvSpPr>
          <p:cNvPr id="4" name="anim-01"/>
          <p:cNvSpPr txBox="1"/>
          <p:nvPr/>
        </p:nvSpPr>
        <p:spPr>
          <a:xfrm>
            <a:off x="548640" y="1325880"/>
            <a:ext cx="3108960" cy="320040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chemeClr val="bg1"/>
                </a:solidFill>
              </a:rPr>
              <a:t>Three views: architecture, file dependencies, and symbols &amp; calls</a:t>
            </a:r>
            <a:endParaRPr lang="en-US" sz="1400" dirty="0"/>
          </a:p>
          <a:p>
            <a:pPr marL="177800" indent="-177800">
              <a:spcAft>
                <a:spcPts val="800"/>
              </a:spcAft>
              <a:buSzPct val="100000"/>
              <a:buChar char="•"/>
            </a:pPr>
            <a:r>
              <a:rPr lang="en-US" sz="1400" dirty="0">
                <a:solidFill>
                  <a:schemeClr val="bg1"/>
                </a:solidFill>
              </a:rPr>
              <a:t>Every connection shows its source: the import line or call site</a:t>
            </a:r>
            <a:endParaRPr lang="en-US" sz="1400" dirty="0"/>
          </a:p>
          <a:p>
            <a:pPr marL="177800" indent="-177800">
              <a:spcAft>
                <a:spcPts val="800"/>
              </a:spcAft>
              <a:buSzPct val="100000"/>
              <a:buChar char="•"/>
            </a:pPr>
            <a:r>
              <a:rPr lang="en-US" sz="1400" dirty="0">
                <a:solidFill>
                  <a:schemeClr val="bg1"/>
                </a:solidFill>
              </a:rPr>
              <a:t>Calls labelled static, via import, or unresolved</a:t>
            </a:r>
            <a:endParaRPr lang="en-US" sz="1400" dirty="0"/>
          </a:p>
          <a:p>
            <a:pPr marL="177800" indent="-177800">
              <a:spcAft>
                <a:spcPts val="800"/>
              </a:spcAft>
              <a:buSzPct val="100000"/>
              <a:buChar char="•"/>
            </a:pPr>
            <a:r>
              <a:rPr lang="en-US" sz="1400" dirty="0">
                <a:solidFill>
                  <a:schemeClr val="bg1"/>
                </a:solidFill>
              </a:rPr>
              <a:t>One click to explain, trace impact, debug or save a note</a:t>
            </a:r>
            <a:endParaRPr lang="en-US" sz="1400" dirty="0"/>
          </a:p>
          <a:p>
            <a:pPr marL="177800" indent="-177800">
              <a:spcAft>
                <a:spcPts val="800"/>
              </a:spcAft>
              <a:buSzPct val="100000"/>
              <a:buChar char="•"/>
            </a:pPr>
            <a:r>
              <a:rPr lang="en-US" sz="1400" dirty="0">
                <a:solidFill>
                  <a:schemeClr val="bg1"/>
                </a:solidFill>
              </a:rPr>
              <a:t>A keyboard-friendly outline of the same graph</a:t>
            </a:r>
            <a:endParaRPr lang="en-US" sz="1400" dirty="0"/>
          </a:p>
        </p:txBody>
      </p:sp>
      <p:sp>
        <p:nvSpPr>
          <p:cNvPr id="5" name="frame-4.35-1.45"/>
          <p:cNvSpPr/>
          <p:nvPr/>
        </p:nvSpPr>
        <p:spPr>
          <a:xfrm>
            <a:off x="3941064" y="1289304"/>
            <a:ext cx="4690872" cy="3488436"/>
          </a:xfrm>
          <a:prstGeom prst="roundRect">
            <a:avLst>
              <a:gd name="adj" fmla="val 2097"/>
            </a:avLst>
          </a:prstGeom>
          <a:solidFill>
            <a:schemeClr val="tx2"/>
          </a:solidFill>
          <a:ln w="12700">
            <a:solidFill>
              <a:schemeClr val="accent5"/>
            </a:solidFill>
            <a:prstDash val="solid"/>
          </a:ln>
        </p:spPr>
      </p:sp>
      <p:pic>
        <p:nvPicPr>
          <p:cNvPr id="6" name="anim-02" descr="Atlas dependencies view with session.ts selected and its import evidence listed">    </p:cNvPr>
          <p:cNvPicPr>
            <a:picLocks noChangeAspect="1"/>
          </p:cNvPicPr>
          <p:nvPr/>
        </p:nvPicPr>
        <p:blipFill>
          <a:blip r:embed="rId1"/>
          <a:stretch>
            <a:fillRect/>
          </a:stretch>
        </p:blipFill>
        <p:spPr>
          <a:xfrm>
            <a:off x="3977640" y="1325880"/>
            <a:ext cx="4617720" cy="3415284"/>
          </a:xfrm>
          <a:prstGeom prst="rect">
            <a:avLst/>
          </a:prstGeom>
        </p:spPr>
      </p:pic>
      <p:sp>
        <p:nvSpPr>
          <p:cNvPr id="25" name="Slide Number Placeholder 0"/>
          <p:cNvSpPr>
            <a:spLocks noGrp="1"/>
          </p:cNvSpPr>
          <p:nvPr>
            <p:ph type="sldNum" sz="quarter" idx="4294967295"/>
          </p:nvPr>
        </p:nvSpPr>
        <p:spPr>
          <a:xfrm>
            <a:off x="8138160" y="473659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5857F"/>
                </a:solidFill>
                <a:latin typeface="Courier New"/>
                <a:ea typeface="Courier New"/>
                <a:cs typeface="Courier New"/>
              </a:defRPr>
            </a:lvl1pPr>
          </a:lstStyle>
          <a:p>
            <a:pPr algn="r"/>
            <a:fld id="{F7021451-1387-4CA6-816F-3879F97B5CBC}" type="slidenum">
              <a:rPr b="0" lang="en-US"/>
              <a:t>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childTnLst>
                                </p:cTn>
                              </p:par>
                            </p:childTnLst>
                          </p:cTn>
                        </p:par>
                        <p:par>
                          <p:cTn id="8" fill="hold">
                            <p:stCondLst>
                              <p:cond delay="280"/>
                            </p:stCondLst>
                            <p:childTnLst>
                              <p:par>
                                <p:cTn id="9" presetID="10"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6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046720" cy="237744"/>
          </a:xfrm>
          <a:prstGeom prst="rect">
            <a:avLst/>
          </a:prstGeom>
          <a:noFill/>
          <a:ln/>
        </p:spPr>
        <p:txBody>
          <a:bodyPr wrap="square" lIns="0" tIns="0" rIns="0" bIns="0" rtlCol="0" anchor="t"/>
          <a:lstStyle/>
          <a:p>
            <a:pPr algn="l" indent="0" marL="0">
              <a:buNone/>
            </a:pPr>
            <a:r>
              <a:rPr lang="en-US" sz="1100" spc="300" kern="0" dirty="0">
                <a:solidFill>
                  <a:schemeClr val="accent1"/>
                </a:solidFill>
                <a:latin typeface="Courier New" pitchFamily="34" charset="0"/>
                <a:ea typeface="Courier New" pitchFamily="34" charset="-122"/>
                <a:cs typeface="Courier New" pitchFamily="34" charset="-120"/>
              </a:rPr>
              <a:t>ASK · I’M STUCK</a:t>
            </a:r>
            <a:endParaRPr lang="en-US" sz="1100" dirty="0"/>
          </a:p>
        </p:txBody>
      </p:sp>
      <p:sp>
        <p:nvSpPr>
          <p:cNvPr id="3" name="Text 0"/>
          <p:cNvSpPr/>
          <p:nvPr>
            <p:ph idx="101" type="title" hasCustomPrompt="1"/>
          </p:nvPr>
        </p:nvSpPr>
        <p:spPr>
          <a:xfrm>
            <a:off x="548640" y="548640"/>
            <a:ext cx="8046720" cy="566928"/>
          </a:xfrm>
          <a:prstGeom prst="rect">
            <a:avLst/>
          </a:prstGeom>
          <a:noFill/>
          <a:ln/>
        </p:spPr>
        <p:txBody>
          <a:bodyPr wrap="square" lIns="0" tIns="0" rIns="0" bIns="0" rtlCol="0" anchor="t"/>
          <a:lstStyle/>
          <a:p>
            <a:pPr algn="l" indent="0" marL="0">
              <a:buNone/>
            </a:pPr>
            <a:r>
              <a:rPr lang="en-US" sz="3000" b="1" dirty="0">
                <a:solidFill>
                  <a:schemeClr val="bg1"/>
                </a:solidFill>
              </a:rPr>
              <a:t>Answers that show their sources</a:t>
            </a:r>
            <a:endParaRPr lang="en-US" sz="3000" dirty="0"/>
          </a:p>
        </p:txBody>
      </p:sp>
      <p:pic>
        <p:nvPicPr>
          <p:cNvPr id="4" name="gif-chat" descr="Animated answer with citation chips; an invented citation C99 is struck through">    </p:cNvPr>
          <p:cNvPicPr>
            <a:picLocks noChangeAspect="1"/>
          </p:cNvPicPr>
          <p:nvPr/>
        </p:nvPicPr>
        <p:blipFill>
          <a:blip r:embed="rId1"/>
          <a:stretch>
            <a:fillRect/>
          </a:stretch>
        </p:blipFill>
        <p:spPr>
          <a:xfrm>
            <a:off x="548640" y="1325880"/>
            <a:ext cx="4023360" cy="2615184"/>
          </a:xfrm>
          <a:prstGeom prst="rect">
            <a:avLst/>
          </a:prstGeom>
        </p:spPr>
      </p:pic>
      <p:sp>
        <p:nvSpPr>
          <p:cNvPr id="5" name="anim-01"/>
          <p:cNvSpPr txBox="1"/>
          <p:nvPr/>
        </p:nvSpPr>
        <p:spPr>
          <a:xfrm>
            <a:off x="548640" y="4041648"/>
            <a:ext cx="4023360" cy="457200"/>
          </a:xfrm>
          <a:prstGeom prst="rect">
            <a:avLst/>
          </a:prstGeom>
          <a:noFill/>
          <a:ln/>
        </p:spPr>
        <p:txBody>
          <a:bodyPr wrap="square" lIns="0" tIns="0" rIns="0" bIns="0" rtlCol="0" anchor="t"/>
          <a:lstStyle/>
          <a:p>
            <a:pPr indent="0" marL="0">
              <a:buNone/>
            </a:pPr>
            <a:r>
              <a:rPr lang="en-US" sz="1200" i="1" dirty="0">
                <a:solidFill>
                  <a:schemeClr val="accent6"/>
                </a:solidFill>
              </a:rPr>
              <a:t>C99 was not in the evidence, so it is flagged and never linked.</a:t>
            </a:r>
            <a:endParaRPr lang="en-US" sz="1200" dirty="0"/>
          </a:p>
        </p:txBody>
      </p:sp>
      <p:sp>
        <p:nvSpPr>
          <p:cNvPr id="6" name="anim-02"/>
          <p:cNvSpPr txBox="1"/>
          <p:nvPr/>
        </p:nvSpPr>
        <p:spPr>
          <a:xfrm>
            <a:off x="4892040" y="1325880"/>
            <a:ext cx="3703320" cy="320040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chemeClr val="bg1"/>
                </a:solidFill>
              </a:rPr>
              <a:t>Full-text retrieval finds the relevant code before the model writes</a:t>
            </a:r>
            <a:endParaRPr lang="en-US" sz="1400" dirty="0"/>
          </a:p>
          <a:p>
            <a:pPr marL="177800" indent="-177800">
              <a:spcAft>
                <a:spcPts val="800"/>
              </a:spcAft>
              <a:buSzPct val="100000"/>
              <a:buChar char="•"/>
            </a:pPr>
            <a:r>
              <a:rPr lang="en-US" sz="1400" dirty="0">
                <a:solidFill>
                  <a:schemeClr val="bg1"/>
                </a:solidFill>
              </a:rPr>
              <a:t>Gemma 4 26B A4B answers; Gemma 4 31B takes over if it fails</a:t>
            </a:r>
            <a:endParaRPr lang="en-US" sz="1400" dirty="0"/>
          </a:p>
          <a:p>
            <a:pPr marL="177800" indent="-177800">
              <a:spcAft>
                <a:spcPts val="800"/>
              </a:spcAft>
              <a:buSzPct val="100000"/>
              <a:buChar char="•"/>
            </a:pPr>
            <a:r>
              <a:rPr lang="en-US" sz="1400" dirty="0">
                <a:solidFill>
                  <a:schemeClr val="bg1"/>
                </a:solidFill>
              </a:rPr>
              <a:t>Citation labels are checked against the evidence the model saw</a:t>
            </a:r>
            <a:endParaRPr lang="en-US" sz="1400" dirty="0"/>
          </a:p>
          <a:p>
            <a:pPr marL="177800" indent="-177800">
              <a:spcAft>
                <a:spcPts val="800"/>
              </a:spcAft>
              <a:buSzPct val="100000"/>
              <a:buChar char="•"/>
            </a:pPr>
            <a:r>
              <a:rPr lang="en-US" sz="1400" dirty="0">
                <a:solidFill>
                  <a:schemeClr val="bg1"/>
                </a:solidFill>
              </a:rPr>
              <a:t>Claims the code doesn’t show are labelled Inference</a:t>
            </a:r>
            <a:endParaRPr lang="en-US" sz="1400" dirty="0"/>
          </a:p>
          <a:p>
            <a:pPr marL="177800" indent="-177800">
              <a:spcAft>
                <a:spcPts val="800"/>
              </a:spcAft>
              <a:buSzPct val="100000"/>
              <a:buChar char="•"/>
            </a:pPr>
            <a:r>
              <a:rPr lang="en-US" sz="1400" dirty="0">
                <a:solidFill>
                  <a:schemeClr val="bg1"/>
                </a:solidFill>
              </a:rPr>
              <a:t>I’m stuck adds live web results alongside your code</a:t>
            </a:r>
            <a:endParaRPr lang="en-US" sz="1400" dirty="0"/>
          </a:p>
        </p:txBody>
      </p:sp>
      <p:sp>
        <p:nvSpPr>
          <p:cNvPr id="25" name="Slide Number Placeholder 0"/>
          <p:cNvSpPr>
            <a:spLocks noGrp="1"/>
          </p:cNvSpPr>
          <p:nvPr>
            <p:ph type="sldNum" sz="quarter" idx="4294967295"/>
          </p:nvPr>
        </p:nvSpPr>
        <p:spPr>
          <a:xfrm>
            <a:off x="8138160" y="473659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5857F"/>
                </a:solidFill>
                <a:latin typeface="Courier New"/>
                <a:ea typeface="Courier New"/>
                <a:cs typeface="Courier New"/>
              </a:defRPr>
            </a:lvl1pPr>
          </a:lstStyle>
          <a:p>
            <a:pPr algn="r"/>
            <a:fld id="{F7021451-1387-4CA6-816F-3879F97B5CBC}" type="slidenum">
              <a:rPr b="0" lang="en-US"/>
              <a:t>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00"/>
                                        <p:tgtEl>
                                          <p:spTgt spid="5"/>
                                        </p:tgtEl>
                                      </p:cBhvr>
                                    </p:animEffect>
                                  </p:childTnLst>
                                </p:cTn>
                              </p:par>
                            </p:childTnLst>
                          </p:cTn>
                        </p:par>
                        <p:par>
                          <p:cTn id="8" fill="hold">
                            <p:stCondLst>
                              <p:cond delay="280"/>
                            </p:stCondLst>
                            <p:childTnLst>
                              <p:par>
                                <p:cTn id="9" presetID="10"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6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046720" cy="237744"/>
          </a:xfrm>
          <a:prstGeom prst="rect">
            <a:avLst/>
          </a:prstGeom>
          <a:noFill/>
          <a:ln/>
        </p:spPr>
        <p:txBody>
          <a:bodyPr wrap="square" lIns="0" tIns="0" rIns="0" bIns="0" rtlCol="0" anchor="t"/>
          <a:lstStyle/>
          <a:p>
            <a:pPr algn="l" indent="0" marL="0">
              <a:buNone/>
            </a:pPr>
            <a:r>
              <a:rPr lang="en-US" sz="1100" spc="300" kern="0" dirty="0">
                <a:solidFill>
                  <a:schemeClr val="accent1"/>
                </a:solidFill>
                <a:latin typeface="Courier New" pitchFamily="34" charset="0"/>
                <a:ea typeface="Courier New" pitchFamily="34" charset="-122"/>
                <a:cs typeface="Courier New" pitchFamily="34" charset="-120"/>
              </a:rPr>
              <a:t>CHANGE IMPACT</a:t>
            </a:r>
            <a:endParaRPr lang="en-US" sz="1100" dirty="0"/>
          </a:p>
        </p:txBody>
      </p:sp>
      <p:sp>
        <p:nvSpPr>
          <p:cNvPr id="3" name="Text 0"/>
          <p:cNvSpPr/>
          <p:nvPr>
            <p:ph idx="101" type="title" hasCustomPrompt="1"/>
          </p:nvPr>
        </p:nvSpPr>
        <p:spPr>
          <a:xfrm>
            <a:off x="548640" y="548640"/>
            <a:ext cx="8046720" cy="566928"/>
          </a:xfrm>
          <a:prstGeom prst="rect">
            <a:avLst/>
          </a:prstGeom>
          <a:noFill/>
          <a:ln/>
        </p:spPr>
        <p:txBody>
          <a:bodyPr wrap="square" lIns="0" tIns="0" rIns="0" bIns="0" rtlCol="0" anchor="t"/>
          <a:lstStyle/>
          <a:p>
            <a:pPr algn="l" indent="0" marL="0">
              <a:buNone/>
            </a:pPr>
            <a:r>
              <a:rPr lang="en-US" sz="3000" b="1" dirty="0">
                <a:solidFill>
                  <a:schemeClr val="bg1"/>
                </a:solidFill>
              </a:rPr>
              <a:t>Know what breaks before you change it</a:t>
            </a:r>
            <a:endParaRPr lang="en-US" sz="3000" dirty="0"/>
          </a:p>
        </p:txBody>
      </p:sp>
      <p:sp>
        <p:nvSpPr>
          <p:cNvPr id="4" name="frame-0.6-1.45"/>
          <p:cNvSpPr/>
          <p:nvPr/>
        </p:nvSpPr>
        <p:spPr>
          <a:xfrm>
            <a:off x="512064" y="1289304"/>
            <a:ext cx="4553712" cy="3416198"/>
          </a:xfrm>
          <a:prstGeom prst="roundRect">
            <a:avLst>
              <a:gd name="adj" fmla="val 2141"/>
            </a:avLst>
          </a:prstGeom>
          <a:solidFill>
            <a:schemeClr val="tx2"/>
          </a:solidFill>
          <a:ln w="12700">
            <a:solidFill>
              <a:schemeClr val="accent5"/>
            </a:solidFill>
            <a:prstDash val="solid"/>
          </a:ln>
        </p:spPr>
      </p:sp>
      <p:pic>
        <p:nvPicPr>
          <p:cNvPr id="5" name="anim-01" descr="Change impact page for password.ts showing direct and transitive dependents">    </p:cNvPr>
          <p:cNvPicPr>
            <a:picLocks noChangeAspect="1"/>
          </p:cNvPicPr>
          <p:nvPr/>
        </p:nvPicPr>
        <p:blipFill>
          <a:blip r:embed="rId1"/>
          <a:stretch>
            <a:fillRect/>
          </a:stretch>
        </p:blipFill>
        <p:spPr>
          <a:xfrm>
            <a:off x="548640" y="1325880"/>
            <a:ext cx="4480560" cy="3343046"/>
          </a:xfrm>
          <a:prstGeom prst="rect">
            <a:avLst/>
          </a:prstGeom>
        </p:spPr>
      </p:pic>
      <p:sp>
        <p:nvSpPr>
          <p:cNvPr id="6" name="anim-02"/>
          <p:cNvSpPr txBox="1"/>
          <p:nvPr/>
        </p:nvSpPr>
        <p:spPr>
          <a:xfrm>
            <a:off x="5349240" y="1325880"/>
            <a:ext cx="3246120" cy="329184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chemeClr val="bg1"/>
                </a:solidFill>
              </a:rPr>
              <a:t>Direct and transitive dependents, each with its import path</a:t>
            </a:r>
            <a:endParaRPr lang="en-US" sz="1400" dirty="0"/>
          </a:p>
          <a:p>
            <a:pPr marL="177800" indent="-177800">
              <a:spcAft>
                <a:spcPts val="800"/>
              </a:spcAft>
              <a:buSzPct val="100000"/>
              <a:buChar char="•"/>
            </a:pPr>
            <a:r>
              <a:rPr lang="en-US" sz="1400" dirty="0">
                <a:solidFill>
                  <a:schemeClr val="bg1"/>
                </a:solidFill>
              </a:rPr>
              <a:t>Related tests marked extracted (imports it) or inferred (name match)</a:t>
            </a:r>
            <a:endParaRPr lang="en-US" sz="1400" dirty="0"/>
          </a:p>
          <a:p>
            <a:pPr marL="177800" indent="-177800">
              <a:spcAft>
                <a:spcPts val="800"/>
              </a:spcAft>
              <a:buSzPct val="100000"/>
              <a:buChar char="•"/>
            </a:pPr>
            <a:r>
              <a:rPr lang="en-US" sz="1400" dirty="0">
                <a:solidFill>
                  <a:schemeClr val="bg1"/>
                </a:solidFill>
              </a:rPr>
              <a:t>Entry points that reach it, and nearby data access</a:t>
            </a:r>
            <a:endParaRPr lang="en-US" sz="1400" dirty="0"/>
          </a:p>
          <a:p>
            <a:pPr marL="177800" indent="-177800">
              <a:spcAft>
                <a:spcPts val="800"/>
              </a:spcAft>
              <a:buSzPct val="100000"/>
              <a:buChar char="•"/>
            </a:pPr>
            <a:r>
              <a:rPr lang="en-US" sz="1400" dirty="0">
                <a:solidFill>
                  <a:schemeClr val="bg1"/>
                </a:solidFill>
              </a:rPr>
              <a:t>A suggested verification checklist</a:t>
            </a:r>
            <a:endParaRPr lang="en-US" sz="1400" dirty="0"/>
          </a:p>
          <a:p>
            <a:pPr marL="177800" indent="-177800">
              <a:spcAft>
                <a:spcPts val="800"/>
              </a:spcAft>
              <a:buSzPct val="100000"/>
              <a:buChar char="•"/>
            </a:pPr>
            <a:r>
              <a:rPr lang="en-US" sz="1400" dirty="0">
                <a:solidFill>
                  <a:schemeClr val="bg1"/>
                </a:solidFill>
              </a:rPr>
              <a:t>Says plainly what static analysis can’t see</a:t>
            </a:r>
            <a:endParaRPr lang="en-US" sz="1400" dirty="0"/>
          </a:p>
        </p:txBody>
      </p:sp>
      <p:sp>
        <p:nvSpPr>
          <p:cNvPr id="25" name="Slide Number Placeholder 0"/>
          <p:cNvSpPr>
            <a:spLocks noGrp="1"/>
          </p:cNvSpPr>
          <p:nvPr>
            <p:ph type="sldNum" sz="quarter" idx="4294967295"/>
          </p:nvPr>
        </p:nvSpPr>
        <p:spPr>
          <a:xfrm>
            <a:off x="8138160" y="473659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5857F"/>
                </a:solidFill>
                <a:latin typeface="Courier New"/>
                <a:ea typeface="Courier New"/>
                <a:cs typeface="Courier New"/>
              </a:defRPr>
            </a:lvl1pPr>
          </a:lstStyle>
          <a:p>
            <a:pPr algn="r"/>
            <a:fld id="{F7021451-1387-4CA6-816F-3879F97B5CBC}" type="slidenum">
              <a:rPr b="0" lang="en-US"/>
              <a:t>7</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00"/>
                                        <p:tgtEl>
                                          <p:spTgt spid="5"/>
                                        </p:tgtEl>
                                      </p:cBhvr>
                                    </p:animEffect>
                                  </p:childTnLst>
                                </p:cTn>
                              </p:par>
                            </p:childTnLst>
                          </p:cTn>
                        </p:par>
                        <p:par>
                          <p:cTn id="8" fill="hold">
                            <p:stCondLst>
                              <p:cond delay="280"/>
                            </p:stCondLst>
                            <p:childTnLst>
                              <p:par>
                                <p:cTn id="9" presetID="10"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6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046720" cy="237744"/>
          </a:xfrm>
          <a:prstGeom prst="rect">
            <a:avLst/>
          </a:prstGeom>
          <a:noFill/>
          <a:ln/>
        </p:spPr>
        <p:txBody>
          <a:bodyPr wrap="square" lIns="0" tIns="0" rIns="0" bIns="0" rtlCol="0" anchor="t"/>
          <a:lstStyle/>
          <a:p>
            <a:pPr algn="l" indent="0" marL="0">
              <a:buNone/>
            </a:pPr>
            <a:r>
              <a:rPr lang="en-US" sz="1100" spc="300" kern="0" dirty="0">
                <a:solidFill>
                  <a:schemeClr val="accent1"/>
                </a:solidFill>
                <a:latin typeface="Courier New" pitchFamily="34" charset="0"/>
                <a:ea typeface="Courier New" pitchFamily="34" charset="-122"/>
                <a:cs typeface="Courier New" pitchFamily="34" charset="-120"/>
              </a:rPr>
              <a:t>ONBOARDING</a:t>
            </a:r>
            <a:endParaRPr lang="en-US" sz="1100" dirty="0"/>
          </a:p>
        </p:txBody>
      </p:sp>
      <p:sp>
        <p:nvSpPr>
          <p:cNvPr id="3" name="Text 0"/>
          <p:cNvSpPr/>
          <p:nvPr>
            <p:ph idx="101" type="title" hasCustomPrompt="1"/>
          </p:nvPr>
        </p:nvSpPr>
        <p:spPr>
          <a:xfrm>
            <a:off x="548640" y="548640"/>
            <a:ext cx="8046720" cy="566928"/>
          </a:xfrm>
          <a:prstGeom prst="rect">
            <a:avLst/>
          </a:prstGeom>
          <a:noFill/>
          <a:ln/>
        </p:spPr>
        <p:txBody>
          <a:bodyPr wrap="square" lIns="0" tIns="0" rIns="0" bIns="0" rtlCol="0" anchor="t"/>
          <a:lstStyle/>
          <a:p>
            <a:pPr algn="l" indent="0" marL="0">
              <a:buNone/>
            </a:pPr>
            <a:r>
              <a:rPr lang="en-US" sz="3000" b="1" dirty="0">
                <a:solidFill>
                  <a:schemeClr val="bg1"/>
                </a:solidFill>
              </a:rPr>
              <a:t>A guide, a route, and your own notes</a:t>
            </a:r>
            <a:endParaRPr lang="en-US" sz="3000" dirty="0"/>
          </a:p>
        </p:txBody>
      </p:sp>
      <p:sp>
        <p:nvSpPr>
          <p:cNvPr id="4" name="frame-0.6-1.45"/>
          <p:cNvSpPr/>
          <p:nvPr/>
        </p:nvSpPr>
        <p:spPr>
          <a:xfrm>
            <a:off x="512064" y="1289304"/>
            <a:ext cx="4919472" cy="2894076"/>
          </a:xfrm>
          <a:prstGeom prst="roundRect">
            <a:avLst>
              <a:gd name="adj" fmla="val 2528"/>
            </a:avLst>
          </a:prstGeom>
          <a:solidFill>
            <a:schemeClr val="tx2"/>
          </a:solidFill>
          <a:ln w="12700">
            <a:solidFill>
              <a:schemeClr val="accent5"/>
            </a:solidFill>
            <a:prstDash val="solid"/>
          </a:ln>
        </p:spPr>
      </p:sp>
      <p:pic>
        <p:nvPicPr>
          <p:cNvPr id="5" name="anim-01" descr="Codebase guide page with index facts: languages, entry points and most depended-on files">    </p:cNvPr>
          <p:cNvPicPr>
            <a:picLocks noChangeAspect="1"/>
          </p:cNvPicPr>
          <p:nvPr/>
        </p:nvPicPr>
        <p:blipFill>
          <a:blip r:embed="rId1"/>
          <a:stretch>
            <a:fillRect/>
          </a:stretch>
        </p:blipFill>
        <p:spPr>
          <a:xfrm>
            <a:off x="548640" y="1325880"/>
            <a:ext cx="4846320" cy="2820924"/>
          </a:xfrm>
          <a:prstGeom prst="rect">
            <a:avLst/>
          </a:prstGeom>
        </p:spPr>
      </p:pic>
      <p:sp>
        <p:nvSpPr>
          <p:cNvPr id="6" name="anim-02-card"/>
          <p:cNvSpPr/>
          <p:nvPr/>
        </p:nvSpPr>
        <p:spPr>
          <a:xfrm>
            <a:off x="5715000" y="1325880"/>
            <a:ext cx="2880360" cy="868680"/>
          </a:xfrm>
          <a:prstGeom prst="roundRect">
            <a:avLst>
              <a:gd name="adj" fmla="val 8421"/>
            </a:avLst>
          </a:prstGeom>
          <a:solidFill>
            <a:schemeClr val="tx2"/>
          </a:solidFill>
          <a:ln w="12700">
            <a:solidFill>
              <a:schemeClr val="accent5"/>
            </a:solidFill>
            <a:prstDash val="solid"/>
          </a:ln>
        </p:spPr>
      </p:sp>
      <p:pic>
        <p:nvPicPr>
          <p:cNvPr id="7" name="anim-02-icon" descr="preencoded.png">    </p:cNvPr>
          <p:cNvPicPr>
            <a:picLocks noChangeAspect="1"/>
          </p:cNvPicPr>
          <p:nvPr/>
        </p:nvPicPr>
        <p:blipFill>
          <a:blip r:embed="rId2"/>
          <a:stretch>
            <a:fillRect/>
          </a:stretch>
        </p:blipFill>
        <p:spPr>
          <a:xfrm>
            <a:off x="5870448" y="1472184"/>
            <a:ext cx="274320" cy="274320"/>
          </a:xfrm>
          <a:prstGeom prst="rect">
            <a:avLst/>
          </a:prstGeom>
        </p:spPr>
      </p:pic>
      <p:sp>
        <p:nvSpPr>
          <p:cNvPr id="8" name="anim-02-h"/>
          <p:cNvSpPr txBox="1"/>
          <p:nvPr/>
        </p:nvSpPr>
        <p:spPr>
          <a:xfrm>
            <a:off x="6263640" y="1435608"/>
            <a:ext cx="2194560" cy="292608"/>
          </a:xfrm>
          <a:prstGeom prst="rect">
            <a:avLst/>
          </a:prstGeom>
          <a:noFill/>
          <a:ln/>
        </p:spPr>
        <p:txBody>
          <a:bodyPr wrap="square" lIns="0" tIns="0" rIns="0" bIns="0" rtlCol="0" anchor="ctr"/>
          <a:lstStyle/>
          <a:p>
            <a:pPr indent="0" marL="0">
              <a:buNone/>
            </a:pPr>
            <a:r>
              <a:rPr lang="en-US" sz="1500" b="1" dirty="0">
                <a:solidFill>
                  <a:schemeClr val="bg1"/>
                </a:solidFill>
              </a:rPr>
              <a:t>Codebase guide</a:t>
            </a:r>
            <a:endParaRPr lang="en-US" sz="1500" dirty="0"/>
          </a:p>
        </p:txBody>
      </p:sp>
      <p:sp>
        <p:nvSpPr>
          <p:cNvPr id="9" name="anim-02-b"/>
          <p:cNvSpPr txBox="1"/>
          <p:nvPr/>
        </p:nvSpPr>
        <p:spPr>
          <a:xfrm>
            <a:off x="5870448" y="1783080"/>
            <a:ext cx="2606040" cy="365760"/>
          </a:xfrm>
          <a:prstGeom prst="rect">
            <a:avLst/>
          </a:prstGeom>
          <a:noFill/>
          <a:ln/>
        </p:spPr>
        <p:txBody>
          <a:bodyPr wrap="square" lIns="0" tIns="0" rIns="0" bIns="0" rtlCol="0" anchor="t"/>
          <a:lstStyle/>
          <a:p>
            <a:pPr indent="0" marL="0">
              <a:buNone/>
            </a:pPr>
            <a:r>
              <a:rPr lang="en-US" sz="1200" dirty="0">
                <a:solidFill>
                  <a:schemeClr val="bg2"/>
                </a:solidFill>
              </a:rPr>
              <a:t>Facts from the index, plus a cited Gemma overview.</a:t>
            </a:r>
            <a:endParaRPr lang="en-US" sz="1200" dirty="0"/>
          </a:p>
        </p:txBody>
      </p:sp>
      <p:sp>
        <p:nvSpPr>
          <p:cNvPr id="10" name="anim-03-card"/>
          <p:cNvSpPr/>
          <p:nvPr/>
        </p:nvSpPr>
        <p:spPr>
          <a:xfrm>
            <a:off x="5715000" y="2331720"/>
            <a:ext cx="2880360" cy="868680"/>
          </a:xfrm>
          <a:prstGeom prst="roundRect">
            <a:avLst>
              <a:gd name="adj" fmla="val 8421"/>
            </a:avLst>
          </a:prstGeom>
          <a:solidFill>
            <a:schemeClr val="tx2"/>
          </a:solidFill>
          <a:ln w="12700">
            <a:solidFill>
              <a:schemeClr val="accent5"/>
            </a:solidFill>
            <a:prstDash val="solid"/>
          </a:ln>
        </p:spPr>
      </p:sp>
      <p:pic>
        <p:nvPicPr>
          <p:cNvPr id="11" name="anim-03-icon" descr="preencoded.png">    </p:cNvPr>
          <p:cNvPicPr>
            <a:picLocks noChangeAspect="1"/>
          </p:cNvPicPr>
          <p:nvPr/>
        </p:nvPicPr>
        <p:blipFill>
          <a:blip r:embed="rId3"/>
          <a:stretch>
            <a:fillRect/>
          </a:stretch>
        </p:blipFill>
        <p:spPr>
          <a:xfrm>
            <a:off x="5870448" y="2478024"/>
            <a:ext cx="274320" cy="274320"/>
          </a:xfrm>
          <a:prstGeom prst="rect">
            <a:avLst/>
          </a:prstGeom>
        </p:spPr>
      </p:pic>
      <p:sp>
        <p:nvSpPr>
          <p:cNvPr id="12" name="anim-03-h"/>
          <p:cNvSpPr txBox="1"/>
          <p:nvPr/>
        </p:nvSpPr>
        <p:spPr>
          <a:xfrm>
            <a:off x="6263640" y="2441448"/>
            <a:ext cx="2194560" cy="292608"/>
          </a:xfrm>
          <a:prstGeom prst="rect">
            <a:avLst/>
          </a:prstGeom>
          <a:noFill/>
          <a:ln/>
        </p:spPr>
        <p:txBody>
          <a:bodyPr wrap="square" lIns="0" tIns="0" rIns="0" bIns="0" rtlCol="0" anchor="ctr"/>
          <a:lstStyle/>
          <a:p>
            <a:pPr indent="0" marL="0">
              <a:buNone/>
            </a:pPr>
            <a:r>
              <a:rPr lang="en-US" sz="1500" b="1" dirty="0">
                <a:solidFill>
                  <a:schemeClr val="bg1"/>
                </a:solidFill>
              </a:rPr>
              <a:t>Learning path</a:t>
            </a:r>
            <a:endParaRPr lang="en-US" sz="1500" dirty="0"/>
          </a:p>
        </p:txBody>
      </p:sp>
      <p:sp>
        <p:nvSpPr>
          <p:cNvPr id="13" name="anim-03-b"/>
          <p:cNvSpPr txBox="1"/>
          <p:nvPr/>
        </p:nvSpPr>
        <p:spPr>
          <a:xfrm>
            <a:off x="5870448" y="2788920"/>
            <a:ext cx="2606040" cy="365760"/>
          </a:xfrm>
          <a:prstGeom prst="rect">
            <a:avLst/>
          </a:prstGeom>
          <a:noFill/>
          <a:ln/>
        </p:spPr>
        <p:txBody>
          <a:bodyPr wrap="square" lIns="0" tIns="0" rIns="0" bIns="0" rtlCol="0" anchor="t"/>
          <a:lstStyle/>
          <a:p>
            <a:pPr indent="0" marL="0">
              <a:buNone/>
            </a:pPr>
            <a:r>
              <a:rPr lang="en-US" sz="1200" dirty="0">
                <a:solidFill>
                  <a:schemeClr val="bg2"/>
                </a:solidFill>
              </a:rPr>
              <a:t>README → entry points → core files → practice.</a:t>
            </a:r>
            <a:endParaRPr lang="en-US" sz="1200" dirty="0"/>
          </a:p>
        </p:txBody>
      </p:sp>
      <p:sp>
        <p:nvSpPr>
          <p:cNvPr id="14" name="anim-04-card"/>
          <p:cNvSpPr/>
          <p:nvPr/>
        </p:nvSpPr>
        <p:spPr>
          <a:xfrm>
            <a:off x="5715000" y="3337560"/>
            <a:ext cx="2880360" cy="868680"/>
          </a:xfrm>
          <a:prstGeom prst="roundRect">
            <a:avLst>
              <a:gd name="adj" fmla="val 8421"/>
            </a:avLst>
          </a:prstGeom>
          <a:solidFill>
            <a:schemeClr val="tx2"/>
          </a:solidFill>
          <a:ln w="12700">
            <a:solidFill>
              <a:schemeClr val="accent5"/>
            </a:solidFill>
            <a:prstDash val="solid"/>
          </a:ln>
        </p:spPr>
      </p:sp>
      <p:pic>
        <p:nvPicPr>
          <p:cNvPr id="15" name="anim-04-icon" descr="preencoded.png">    </p:cNvPr>
          <p:cNvPicPr>
            <a:picLocks noChangeAspect="1"/>
          </p:cNvPicPr>
          <p:nvPr/>
        </p:nvPicPr>
        <p:blipFill>
          <a:blip r:embed="rId4"/>
          <a:stretch>
            <a:fillRect/>
          </a:stretch>
        </p:blipFill>
        <p:spPr>
          <a:xfrm>
            <a:off x="5870448" y="3483864"/>
            <a:ext cx="274320" cy="274320"/>
          </a:xfrm>
          <a:prstGeom prst="rect">
            <a:avLst/>
          </a:prstGeom>
        </p:spPr>
      </p:pic>
      <p:sp>
        <p:nvSpPr>
          <p:cNvPr id="16" name="anim-04-h"/>
          <p:cNvSpPr txBox="1"/>
          <p:nvPr/>
        </p:nvSpPr>
        <p:spPr>
          <a:xfrm>
            <a:off x="6263640" y="3447288"/>
            <a:ext cx="2194560" cy="292608"/>
          </a:xfrm>
          <a:prstGeom prst="rect">
            <a:avLst/>
          </a:prstGeom>
          <a:noFill/>
          <a:ln/>
        </p:spPr>
        <p:txBody>
          <a:bodyPr wrap="square" lIns="0" tIns="0" rIns="0" bIns="0" rtlCol="0" anchor="ctr"/>
          <a:lstStyle/>
          <a:p>
            <a:pPr indent="0" marL="0">
              <a:buNone/>
            </a:pPr>
            <a:r>
              <a:rPr lang="en-US" sz="1500" b="1" dirty="0">
                <a:solidFill>
                  <a:schemeClr val="bg1"/>
                </a:solidFill>
              </a:rPr>
              <a:t>Notes</a:t>
            </a:r>
            <a:endParaRPr lang="en-US" sz="1500" dirty="0"/>
          </a:p>
        </p:txBody>
      </p:sp>
      <p:sp>
        <p:nvSpPr>
          <p:cNvPr id="17" name="anim-04-b"/>
          <p:cNvSpPr txBox="1"/>
          <p:nvPr/>
        </p:nvSpPr>
        <p:spPr>
          <a:xfrm>
            <a:off x="5870448" y="3794760"/>
            <a:ext cx="2606040" cy="365760"/>
          </a:xfrm>
          <a:prstGeom prst="rect">
            <a:avLst/>
          </a:prstGeom>
          <a:noFill/>
          <a:ln/>
        </p:spPr>
        <p:txBody>
          <a:bodyPr wrap="square" lIns="0" tIns="0" rIns="0" bIns="0" rtlCol="0" anchor="t"/>
          <a:lstStyle/>
          <a:p>
            <a:pPr indent="0" marL="0">
              <a:buNone/>
            </a:pPr>
            <a:r>
              <a:rPr lang="en-US" sz="1200" dirty="0">
                <a:solidFill>
                  <a:schemeClr val="bg2"/>
                </a:solidFill>
              </a:rPr>
              <a:t>Private notes, flagged when their file changes.</a:t>
            </a:r>
            <a:endParaRPr lang="en-US" sz="1200" dirty="0"/>
          </a:p>
        </p:txBody>
      </p:sp>
      <p:sp>
        <p:nvSpPr>
          <p:cNvPr id="25" name="Slide Number Placeholder 0"/>
          <p:cNvSpPr>
            <a:spLocks noGrp="1"/>
          </p:cNvSpPr>
          <p:nvPr>
            <p:ph type="sldNum" sz="quarter" idx="4294967295"/>
          </p:nvPr>
        </p:nvSpPr>
        <p:spPr>
          <a:xfrm>
            <a:off x="8138160" y="473659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5857F"/>
                </a:solidFill>
                <a:latin typeface="Courier New"/>
                <a:ea typeface="Courier New"/>
                <a:cs typeface="Courier New"/>
              </a:defRPr>
            </a:lvl1pPr>
          </a:lstStyle>
          <a:p>
            <a:pPr algn="r"/>
            <a:fld id="{F7021451-1387-4CA6-816F-3879F97B5CBC}" type="slidenum">
              <a:rPr b="0" lang="en-US"/>
              <a:t>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00"/>
                                        <p:tgtEl>
                                          <p:spTgt spid="5"/>
                                        </p:tgtEl>
                                      </p:cBhvr>
                                    </p:animEffect>
                                  </p:childTnLst>
                                </p:cTn>
                              </p:par>
                            </p:childTnLst>
                          </p:cTn>
                        </p:par>
                        <p:par>
                          <p:cTn id="8" fill="hold">
                            <p:stCondLst>
                              <p:cond delay="280"/>
                            </p:stCondLst>
                            <p:childTnLst>
                              <p:par>
                                <p:cTn id="9" presetID="10"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600"/>
                                        <p:tgtEl>
                                          <p:spTgt spid="6"/>
                                        </p:tgtEl>
                                      </p:cBhvr>
                                    </p:animEffect>
                                  </p:childTnLst>
                                </p:cTn>
                              </p:par>
                              <p:par>
                                <p:cTn id="12" presetID="10" presetClass="entr" presetSubtype="0" fill="hold"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600"/>
                                        <p:tgtEl>
                                          <p:spTgt spid="7"/>
                                        </p:tgtEl>
                                      </p:cBhvr>
                                    </p:animEffect>
                                  </p:childTnLst>
                                </p:cTn>
                              </p:par>
                              <p:par>
                                <p:cTn id="15" presetID="10" presetClass="entr" presetSubtype="0" fill="hold"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600"/>
                                        <p:tgtEl>
                                          <p:spTgt spid="8"/>
                                        </p:tgtEl>
                                      </p:cBhvr>
                                    </p:animEffect>
                                  </p:childTnLst>
                                </p:cTn>
                              </p:par>
                              <p:par>
                                <p:cTn id="18" presetID="10" presetClass="entr" presetSubtype="0" fill="hold" nodeType="with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600"/>
                                        <p:tgtEl>
                                          <p:spTgt spid="9"/>
                                        </p:tgtEl>
                                      </p:cBhvr>
                                    </p:animEffect>
                                  </p:childTnLst>
                                </p:cTn>
                              </p:par>
                            </p:childTnLst>
                          </p:cTn>
                        </p:par>
                        <p:par>
                          <p:cTn id="21" fill="hold">
                            <p:stCondLst>
                              <p:cond delay="560"/>
                            </p:stCondLst>
                            <p:childTnLst>
                              <p:par>
                                <p:cTn id="22" presetID="10" presetClass="entr" presetSubtype="0" fill="hold"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600"/>
                                        <p:tgtEl>
                                          <p:spTgt spid="10"/>
                                        </p:tgtEl>
                                      </p:cBhvr>
                                    </p:animEffect>
                                  </p:childTnLst>
                                </p:cTn>
                              </p:par>
                              <p:par>
                                <p:cTn id="25" presetID="10" presetClass="entr" presetSubtype="0" fill="hold"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600"/>
                                        <p:tgtEl>
                                          <p:spTgt spid="11"/>
                                        </p:tgtEl>
                                      </p:cBhvr>
                                    </p:animEffect>
                                  </p:childTnLst>
                                </p:cTn>
                              </p:par>
                              <p:par>
                                <p:cTn id="28" presetID="10" presetClass="entr" presetSubtype="0" fill="hold"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600"/>
                                        <p:tgtEl>
                                          <p:spTgt spid="12"/>
                                        </p:tgtEl>
                                      </p:cBhvr>
                                    </p:animEffect>
                                  </p:childTnLst>
                                </p:cTn>
                              </p:par>
                              <p:par>
                                <p:cTn id="31" presetID="10" presetClass="entr" presetSubtype="0" fill="hold"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600"/>
                                        <p:tgtEl>
                                          <p:spTgt spid="13"/>
                                        </p:tgtEl>
                                      </p:cBhvr>
                                    </p:animEffect>
                                  </p:childTnLst>
                                </p:cTn>
                              </p:par>
                            </p:childTnLst>
                          </p:cTn>
                        </p:par>
                        <p:par>
                          <p:cTn id="34" fill="hold">
                            <p:stCondLst>
                              <p:cond delay="840"/>
                            </p:stCondLst>
                            <p:childTnLst>
                              <p:par>
                                <p:cTn id="35" presetID="10" presetClass="entr" presetSubtype="0" fill="hold"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600"/>
                                        <p:tgtEl>
                                          <p:spTgt spid="14"/>
                                        </p:tgtEl>
                                      </p:cBhvr>
                                    </p:animEffect>
                                  </p:childTnLst>
                                </p:cTn>
                              </p:par>
                              <p:par>
                                <p:cTn id="38" presetID="10" presetClass="entr" presetSubtype="0" fill="hold"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600"/>
                                        <p:tgtEl>
                                          <p:spTgt spid="15"/>
                                        </p:tgtEl>
                                      </p:cBhvr>
                                    </p:animEffect>
                                  </p:childTnLst>
                                </p:cTn>
                              </p:par>
                              <p:par>
                                <p:cTn id="41" presetID="10" presetClass="entr" presetSubtype="0" fill="hold" nodeType="with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600"/>
                                        <p:tgtEl>
                                          <p:spTgt spid="16"/>
                                        </p:tgtEl>
                                      </p:cBhvr>
                                    </p:animEffect>
                                  </p:childTnLst>
                                </p:cTn>
                              </p:par>
                              <p:par>
                                <p:cTn id="44" presetID="10" presetClass="entr" presetSubtype="0" fill="hold" nodeType="with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6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046720" cy="237744"/>
          </a:xfrm>
          <a:prstGeom prst="rect">
            <a:avLst/>
          </a:prstGeom>
          <a:noFill/>
          <a:ln/>
        </p:spPr>
        <p:txBody>
          <a:bodyPr wrap="square" lIns="0" tIns="0" rIns="0" bIns="0" rtlCol="0" anchor="t"/>
          <a:lstStyle/>
          <a:p>
            <a:pPr algn="l" indent="0" marL="0">
              <a:buNone/>
            </a:pPr>
            <a:r>
              <a:rPr lang="en-US" sz="1100" spc="300" kern="0" dirty="0">
                <a:solidFill>
                  <a:schemeClr val="accent1"/>
                </a:solidFill>
                <a:latin typeface="Courier New" pitchFamily="34" charset="0"/>
                <a:ea typeface="Courier New" pitchFamily="34" charset="-122"/>
                <a:cs typeface="Courier New" pitchFamily="34" charset="-120"/>
              </a:rPr>
              <a:t>CODE TUTOR</a:t>
            </a:r>
            <a:endParaRPr lang="en-US" sz="1100" dirty="0"/>
          </a:p>
        </p:txBody>
      </p:sp>
      <p:sp>
        <p:nvSpPr>
          <p:cNvPr id="3" name="Text 0"/>
          <p:cNvSpPr/>
          <p:nvPr>
            <p:ph idx="101" type="title" hasCustomPrompt="1"/>
          </p:nvPr>
        </p:nvSpPr>
        <p:spPr>
          <a:xfrm>
            <a:off x="548640" y="548640"/>
            <a:ext cx="8046720" cy="566928"/>
          </a:xfrm>
          <a:prstGeom prst="rect">
            <a:avLst/>
          </a:prstGeom>
          <a:noFill/>
          <a:ln/>
        </p:spPr>
        <p:txBody>
          <a:bodyPr wrap="square" lIns="0" tIns="0" rIns="0" bIns="0" rtlCol="0" anchor="t"/>
          <a:lstStyle/>
          <a:p>
            <a:pPr algn="l" indent="0" marL="0">
              <a:buNone/>
            </a:pPr>
            <a:r>
              <a:rPr lang="en-US" sz="3000" b="1" dirty="0">
                <a:solidFill>
                  <a:schemeClr val="bg1"/>
                </a:solidFill>
              </a:rPr>
              <a:t>Run it, understand it, fix it, prove it</a:t>
            </a:r>
            <a:endParaRPr lang="en-US" sz="3000" dirty="0"/>
          </a:p>
        </p:txBody>
      </p:sp>
      <p:pic>
        <p:nvPicPr>
          <p:cNvPr id="4" name="gif-tutor" descr="Animated loop: Run, Explain, Fix, Verify; the output changes from IndexError to Average: 85.0">    </p:cNvPr>
          <p:cNvPicPr>
            <a:picLocks noChangeAspect="1"/>
          </p:cNvPicPr>
          <p:nvPr/>
        </p:nvPicPr>
        <p:blipFill>
          <a:blip r:embed="rId1"/>
          <a:stretch>
            <a:fillRect/>
          </a:stretch>
        </p:blipFill>
        <p:spPr>
          <a:xfrm>
            <a:off x="548640" y="1325880"/>
            <a:ext cx="3108960" cy="2020824"/>
          </a:xfrm>
          <a:prstGeom prst="rect">
            <a:avLst/>
          </a:prstGeom>
        </p:spPr>
      </p:pic>
      <p:sp>
        <p:nvSpPr>
          <p:cNvPr id="5" name="anim-01"/>
          <p:cNvSpPr txBox="1"/>
          <p:nvPr/>
        </p:nvSpPr>
        <p:spPr>
          <a:xfrm>
            <a:off x="548640" y="3456432"/>
            <a:ext cx="3108960" cy="457200"/>
          </a:xfrm>
          <a:prstGeom prst="rect">
            <a:avLst/>
          </a:prstGeom>
          <a:noFill/>
          <a:ln/>
        </p:spPr>
        <p:txBody>
          <a:bodyPr wrap="square" lIns="0" tIns="0" rIns="0" bIns="0" rtlCol="0" anchor="t"/>
          <a:lstStyle/>
          <a:p>
            <a:pPr indent="0" marL="0">
              <a:buNone/>
            </a:pPr>
            <a:r>
              <a:rPr lang="en-US" sz="1200" i="1" dirty="0">
                <a:solidFill>
                  <a:schemeClr val="accent6"/>
                </a:solidFill>
              </a:rPr>
              <a:t>The default Python example: IndexError, then Average: 85.0 after the fix.</a:t>
            </a:r>
            <a:endParaRPr lang="en-US" sz="1200" dirty="0"/>
          </a:p>
        </p:txBody>
      </p:sp>
      <p:sp>
        <p:nvSpPr>
          <p:cNvPr id="6" name="anim-02"/>
          <p:cNvSpPr txBox="1"/>
          <p:nvPr/>
        </p:nvSpPr>
        <p:spPr>
          <a:xfrm>
            <a:off x="3886200" y="1325880"/>
            <a:ext cx="2514600" cy="333756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chemeClr val="bg1"/>
                </a:solidFill>
              </a:rPr>
              <a:t>Python, JavaScript, TypeScript, C, C++ and Java</a:t>
            </a:r>
            <a:endParaRPr lang="en-US" sz="1400" dirty="0"/>
          </a:p>
          <a:p>
            <a:pPr marL="177800" indent="-177800">
              <a:spcAft>
                <a:spcPts val="800"/>
              </a:spcAft>
              <a:buSzPct val="100000"/>
              <a:buChar char="•"/>
            </a:pPr>
            <a:r>
              <a:rPr lang="en-US" sz="1400" dirty="0">
                <a:solidFill>
                  <a:schemeClr val="bg1"/>
                </a:solidFill>
              </a:rPr>
              <a:t>Vercel Sandbox: no network, 10 s limit, 64 KB output</a:t>
            </a:r>
            <a:endParaRPr lang="en-US" sz="1400" dirty="0"/>
          </a:p>
          <a:p>
            <a:pPr marL="177800" indent="-177800">
              <a:spcAft>
                <a:spcPts val="800"/>
              </a:spcAft>
              <a:buSzPct val="100000"/>
              <a:buChar char="•"/>
            </a:pPr>
            <a:r>
              <a:rPr lang="en-US" sz="1400" dirty="0">
                <a:solidFill>
                  <a:schemeClr val="bg1"/>
                </a:solidFill>
              </a:rPr>
              <a:t>Explains the real output and exit code</a:t>
            </a:r>
            <a:endParaRPr lang="en-US" sz="1400" dirty="0"/>
          </a:p>
          <a:p>
            <a:pPr marL="177800" indent="-177800">
              <a:spcAft>
                <a:spcPts val="800"/>
              </a:spcAft>
              <a:buSzPct val="100000"/>
              <a:buChar char="•"/>
            </a:pPr>
            <a:r>
              <a:rPr lang="en-US" sz="1400" dirty="0">
                <a:solidFill>
                  <a:schemeClr val="bg1"/>
                </a:solidFill>
              </a:rPr>
              <a:t>Fix shown as a diff; nothing changes until you apply it</a:t>
            </a:r>
            <a:endParaRPr lang="en-US" sz="1400" dirty="0"/>
          </a:p>
          <a:p>
            <a:pPr marL="177800" indent="-177800">
              <a:spcAft>
                <a:spcPts val="800"/>
              </a:spcAft>
              <a:buSzPct val="100000"/>
              <a:buChar char="•"/>
            </a:pPr>
            <a:r>
              <a:rPr lang="en-US" sz="1400" dirty="0">
                <a:solidFill>
                  <a:schemeClr val="bg1"/>
                </a:solidFill>
              </a:rPr>
              <a:t>A re-run confirms Verified or Not fixed yet</a:t>
            </a:r>
            <a:endParaRPr lang="en-US" sz="1400" dirty="0"/>
          </a:p>
        </p:txBody>
      </p:sp>
      <p:sp>
        <p:nvSpPr>
          <p:cNvPr id="7" name="frame-7.2-1.45"/>
          <p:cNvSpPr/>
          <p:nvPr/>
        </p:nvSpPr>
        <p:spPr>
          <a:xfrm>
            <a:off x="6547104" y="1289304"/>
            <a:ext cx="2084832" cy="2784348"/>
          </a:xfrm>
          <a:prstGeom prst="roundRect">
            <a:avLst>
              <a:gd name="adj" fmla="val 3509"/>
            </a:avLst>
          </a:prstGeom>
          <a:solidFill>
            <a:schemeClr val="tx2"/>
          </a:solidFill>
          <a:ln w="12700">
            <a:solidFill>
              <a:schemeClr val="accent5"/>
            </a:solidFill>
            <a:prstDash val="solid"/>
          </a:ln>
        </p:spPr>
      </p:sp>
      <p:pic>
        <p:nvPicPr>
          <p:cNvPr id="8" name="anim-03" descr="Tutor explanation with a proposed fix shown as a line diff">    </p:cNvPr>
          <p:cNvPicPr>
            <a:picLocks noChangeAspect="1"/>
          </p:cNvPicPr>
          <p:nvPr/>
        </p:nvPicPr>
        <p:blipFill>
          <a:blip r:embed="rId2"/>
          <a:stretch>
            <a:fillRect/>
          </a:stretch>
        </p:blipFill>
        <p:spPr>
          <a:xfrm>
            <a:off x="6583680" y="1325880"/>
            <a:ext cx="2011680" cy="2711196"/>
          </a:xfrm>
          <a:prstGeom prst="rect">
            <a:avLst/>
          </a:prstGeom>
        </p:spPr>
      </p:pic>
      <p:sp>
        <p:nvSpPr>
          <p:cNvPr id="25" name="Slide Number Placeholder 0"/>
          <p:cNvSpPr>
            <a:spLocks noGrp="1"/>
          </p:cNvSpPr>
          <p:nvPr>
            <p:ph type="sldNum" sz="quarter" idx="4294967295"/>
          </p:nvPr>
        </p:nvSpPr>
        <p:spPr>
          <a:xfrm>
            <a:off x="8138160" y="473659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5857F"/>
                </a:solidFill>
                <a:latin typeface="Courier New"/>
                <a:ea typeface="Courier New"/>
                <a:cs typeface="Courier New"/>
              </a:defRPr>
            </a:lvl1pPr>
          </a:lstStyle>
          <a:p>
            <a:pPr algn="r"/>
            <a:fld id="{F7021451-1387-4CA6-816F-3879F97B5CBC}" type="slidenum">
              <a:rPr b="0" lang="en-US"/>
              <a:t>9</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00"/>
                                        <p:tgtEl>
                                          <p:spTgt spid="5"/>
                                        </p:tgtEl>
                                      </p:cBhvr>
                                    </p:animEffect>
                                  </p:childTnLst>
                                </p:cTn>
                              </p:par>
                            </p:childTnLst>
                          </p:cTn>
                        </p:par>
                        <p:par>
                          <p:cTn id="8" fill="hold">
                            <p:stCondLst>
                              <p:cond delay="280"/>
                            </p:stCondLst>
                            <p:childTnLst>
                              <p:par>
                                <p:cTn id="9" presetID="10"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600"/>
                                        <p:tgtEl>
                                          <p:spTgt spid="6"/>
                                        </p:tgtEl>
                                      </p:cBhvr>
                                    </p:animEffect>
                                  </p:childTnLst>
                                </p:cTn>
                              </p:par>
                            </p:childTnLst>
                          </p:cTn>
                        </p:par>
                        <p:par>
                          <p:cTn id="12" fill="hold">
                            <p:stCondLst>
                              <p:cond delay="560"/>
                            </p:stCondLst>
                            <p:childTnLst>
                              <p:par>
                                <p:cTn id="13" presetID="10"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6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046720" cy="237744"/>
          </a:xfrm>
          <a:prstGeom prst="rect">
            <a:avLst/>
          </a:prstGeom>
          <a:noFill/>
          <a:ln/>
        </p:spPr>
        <p:txBody>
          <a:bodyPr wrap="square" lIns="0" tIns="0" rIns="0" bIns="0" rtlCol="0" anchor="t"/>
          <a:lstStyle/>
          <a:p>
            <a:pPr algn="l" indent="0" marL="0">
              <a:buNone/>
            </a:pPr>
            <a:r>
              <a:rPr lang="en-US" sz="1100" spc="300" kern="0" dirty="0">
                <a:solidFill>
                  <a:schemeClr val="accent1"/>
                </a:solidFill>
                <a:latin typeface="Courier New" pitchFamily="34" charset="0"/>
                <a:ea typeface="Courier New" pitchFamily="34" charset="-122"/>
                <a:cs typeface="Courier New" pitchFamily="34" charset="-120"/>
              </a:rPr>
              <a:t>ARCHITECTURE</a:t>
            </a:r>
            <a:endParaRPr lang="en-US" sz="1100" dirty="0"/>
          </a:p>
        </p:txBody>
      </p:sp>
      <p:sp>
        <p:nvSpPr>
          <p:cNvPr id="3" name="Text 0"/>
          <p:cNvSpPr/>
          <p:nvPr>
            <p:ph idx="101" type="title" hasCustomPrompt="1"/>
          </p:nvPr>
        </p:nvSpPr>
        <p:spPr>
          <a:xfrm>
            <a:off x="548640" y="548640"/>
            <a:ext cx="8046720" cy="566928"/>
          </a:xfrm>
          <a:prstGeom prst="rect">
            <a:avLst/>
          </a:prstGeom>
          <a:noFill/>
          <a:ln/>
        </p:spPr>
        <p:txBody>
          <a:bodyPr wrap="square" lIns="0" tIns="0" rIns="0" bIns="0" rtlCol="0" anchor="t"/>
          <a:lstStyle/>
          <a:p>
            <a:pPr algn="l" indent="0" marL="0">
              <a:buNone/>
            </a:pPr>
            <a:r>
              <a:rPr lang="en-US" sz="3000" b="1" dirty="0">
                <a:solidFill>
                  <a:schemeClr val="bg1"/>
                </a:solidFill>
              </a:rPr>
              <a:t>One app, managed services around it</a:t>
            </a:r>
            <a:endParaRPr lang="en-US" sz="3000" dirty="0"/>
          </a:p>
        </p:txBody>
      </p:sp>
      <p:sp>
        <p:nvSpPr>
          <p:cNvPr id="4" name="anim-01"/>
          <p:cNvSpPr/>
          <p:nvPr/>
        </p:nvSpPr>
        <p:spPr>
          <a:xfrm>
            <a:off x="548640" y="2514600"/>
            <a:ext cx="1325880" cy="731520"/>
          </a:xfrm>
          <a:prstGeom prst="roundRect">
            <a:avLst>
              <a:gd name="adj" fmla="val 10000"/>
            </a:avLst>
          </a:prstGeom>
          <a:solidFill>
            <a:schemeClr val="tx2"/>
          </a:solidFill>
          <a:ln w="12700">
            <a:solidFill>
              <a:schemeClr val="accent5"/>
            </a:solidFill>
          </a:ln>
        </p:spPr>
        <p:txBody>
          <a:bodyPr wrap="square" lIns="0" tIns="0" rIns="0" bIns="0" rtlCol="0" anchor="ctr"/>
          <a:lstStyle/>
          <a:p>
            <a:pPr algn="ctr" indent="0" marL="0">
              <a:buNone/>
            </a:pPr>
            <a:r>
              <a:rPr lang="en-US" sz="1500" b="1" dirty="0">
                <a:solidFill>
                  <a:schemeClr val="bg1"/>
                </a:solidFill>
              </a:rPr>
              <a:t>Browser</a:t>
            </a:r>
            <a:endParaRPr lang="en-US" sz="1500" dirty="0"/>
          </a:p>
        </p:txBody>
      </p:sp>
      <p:sp>
        <p:nvSpPr>
          <p:cNvPr id="5" name="anim-01-line"/>
          <p:cNvSpPr/>
          <p:nvPr/>
        </p:nvSpPr>
        <p:spPr>
          <a:xfrm>
            <a:off x="1874520" y="2880360"/>
            <a:ext cx="411480" cy="0"/>
          </a:xfrm>
          <a:prstGeom prst="line">
            <a:avLst/>
          </a:prstGeom>
          <a:noFill/>
          <a:ln w="19050">
            <a:solidFill>
              <a:schemeClr val="accent1"/>
            </a:solidFill>
            <a:prstDash val="solid"/>
            <a:tailEnd type="triangle"/>
          </a:ln>
        </p:spPr>
      </p:sp>
      <p:sp>
        <p:nvSpPr>
          <p:cNvPr id="6" name="anim-02-box"/>
          <p:cNvSpPr/>
          <p:nvPr/>
        </p:nvSpPr>
        <p:spPr>
          <a:xfrm>
            <a:off x="2286000" y="1325880"/>
            <a:ext cx="3108960" cy="3200400"/>
          </a:xfrm>
          <a:prstGeom prst="roundRect">
            <a:avLst>
              <a:gd name="adj" fmla="val 2941"/>
            </a:avLst>
          </a:prstGeom>
          <a:solidFill>
            <a:srgbClr val="151A0B"/>
          </a:solidFill>
          <a:ln w="15875">
            <a:solidFill>
              <a:schemeClr val="accent1"/>
            </a:solidFill>
            <a:prstDash val="solid"/>
          </a:ln>
        </p:spPr>
      </p:sp>
      <p:sp>
        <p:nvSpPr>
          <p:cNvPr id="7" name="anim-02-h"/>
          <p:cNvSpPr txBox="1"/>
          <p:nvPr/>
        </p:nvSpPr>
        <p:spPr>
          <a:xfrm>
            <a:off x="2468880" y="1463040"/>
            <a:ext cx="2743200" cy="365760"/>
          </a:xfrm>
          <a:prstGeom prst="rect">
            <a:avLst/>
          </a:prstGeom>
          <a:noFill/>
          <a:ln/>
        </p:spPr>
        <p:txBody>
          <a:bodyPr wrap="square" lIns="0" tIns="0" rIns="0" bIns="0" rtlCol="0" anchor="ctr"/>
          <a:lstStyle/>
          <a:p>
            <a:pPr indent="0" marL="0">
              <a:buNone/>
            </a:pPr>
            <a:r>
              <a:rPr lang="en-US" sz="1600" b="1" dirty="0">
                <a:solidFill>
                  <a:schemeClr val="accent1"/>
                </a:solidFill>
              </a:rPr>
              <a:t>Next.js 16 on Vercel</a:t>
            </a:r>
            <a:endParaRPr lang="en-US" sz="1600" dirty="0"/>
          </a:p>
        </p:txBody>
      </p:sp>
      <p:sp>
        <p:nvSpPr>
          <p:cNvPr id="8" name="anim-02-c0"/>
          <p:cNvSpPr/>
          <p:nvPr/>
        </p:nvSpPr>
        <p:spPr>
          <a:xfrm>
            <a:off x="2468880" y="1965960"/>
            <a:ext cx="2743200" cy="502920"/>
          </a:xfrm>
          <a:prstGeom prst="roundRect">
            <a:avLst>
              <a:gd name="adj" fmla="val 10909"/>
            </a:avLst>
          </a:prstGeom>
          <a:solidFill>
            <a:schemeClr val="tx2"/>
          </a:solidFill>
          <a:ln w="12700">
            <a:solidFill>
              <a:schemeClr val="accent5"/>
            </a:solidFill>
          </a:ln>
        </p:spPr>
        <p:txBody>
          <a:bodyPr wrap="square" lIns="0" tIns="101600" rIns="101600" bIns="0" rtlCol="0" anchor="ctr"/>
          <a:lstStyle/>
          <a:p>
            <a:pPr indent="0" marL="0">
              <a:buNone/>
            </a:pPr>
            <a:r>
              <a:rPr lang="en-US" sz="1300" dirty="0">
                <a:solidFill>
                  <a:schemeClr val="bg1"/>
                </a:solidFill>
              </a:rPr>
              <a:t>Better Auth · email, GitHub, Google</a:t>
            </a:r>
            <a:endParaRPr lang="en-US" sz="1300" dirty="0"/>
          </a:p>
        </p:txBody>
      </p:sp>
      <p:sp>
        <p:nvSpPr>
          <p:cNvPr id="9" name="anim-02-c1"/>
          <p:cNvSpPr/>
          <p:nvPr/>
        </p:nvSpPr>
        <p:spPr>
          <a:xfrm>
            <a:off x="2468880" y="2587752"/>
            <a:ext cx="2743200" cy="502920"/>
          </a:xfrm>
          <a:prstGeom prst="roundRect">
            <a:avLst>
              <a:gd name="adj" fmla="val 10909"/>
            </a:avLst>
          </a:prstGeom>
          <a:solidFill>
            <a:schemeClr val="tx2"/>
          </a:solidFill>
          <a:ln w="12700">
            <a:solidFill>
              <a:schemeClr val="accent5"/>
            </a:solidFill>
          </a:ln>
        </p:spPr>
        <p:txBody>
          <a:bodyPr wrap="square" lIns="0" tIns="101600" rIns="101600" bIns="0" rtlCol="0" anchor="ctr"/>
          <a:lstStyle/>
          <a:p>
            <a:pPr indent="0" marL="0">
              <a:buNone/>
            </a:pPr>
            <a:r>
              <a:rPr lang="en-US" sz="1300" dirty="0">
                <a:solidFill>
                  <a:schemeClr val="bg1"/>
                </a:solidFill>
              </a:rPr>
              <a:t>API routes · ownership + rate limits</a:t>
            </a:r>
            <a:endParaRPr lang="en-US" sz="1300" dirty="0"/>
          </a:p>
        </p:txBody>
      </p:sp>
      <p:sp>
        <p:nvSpPr>
          <p:cNvPr id="10" name="anim-02-c2"/>
          <p:cNvSpPr/>
          <p:nvPr/>
        </p:nvSpPr>
        <p:spPr>
          <a:xfrm>
            <a:off x="2468880" y="3209544"/>
            <a:ext cx="2743200" cy="502920"/>
          </a:xfrm>
          <a:prstGeom prst="roundRect">
            <a:avLst>
              <a:gd name="adj" fmla="val 10909"/>
            </a:avLst>
          </a:prstGeom>
          <a:solidFill>
            <a:schemeClr val="tx2"/>
          </a:solidFill>
          <a:ln w="12700">
            <a:solidFill>
              <a:schemeClr val="accent5"/>
            </a:solidFill>
          </a:ln>
        </p:spPr>
        <p:txBody>
          <a:bodyPr wrap="square" lIns="0" tIns="101600" rIns="101600" bIns="0" rtlCol="0" anchor="ctr"/>
          <a:lstStyle/>
          <a:p>
            <a:pPr indent="0" marL="0">
              <a:buNone/>
            </a:pPr>
            <a:r>
              <a:rPr lang="en-US" sz="1300" dirty="0">
                <a:solidFill>
                  <a:schemeClr val="bg1"/>
                </a:solidFill>
              </a:rPr>
              <a:t>Indexer · tree-sitter, 6 languages</a:t>
            </a:r>
            <a:endParaRPr lang="en-US" sz="1300" dirty="0"/>
          </a:p>
        </p:txBody>
      </p:sp>
      <p:sp>
        <p:nvSpPr>
          <p:cNvPr id="11" name="anim-02-c3"/>
          <p:cNvSpPr/>
          <p:nvPr/>
        </p:nvSpPr>
        <p:spPr>
          <a:xfrm>
            <a:off x="2468880" y="3831336"/>
            <a:ext cx="2743200" cy="502920"/>
          </a:xfrm>
          <a:prstGeom prst="roundRect">
            <a:avLst>
              <a:gd name="adj" fmla="val 10909"/>
            </a:avLst>
          </a:prstGeom>
          <a:solidFill>
            <a:schemeClr val="tx2"/>
          </a:solidFill>
          <a:ln w="12700">
            <a:solidFill>
              <a:schemeClr val="accent5"/>
            </a:solidFill>
          </a:ln>
        </p:spPr>
        <p:txBody>
          <a:bodyPr wrap="square" lIns="0" tIns="101600" rIns="101600" bIns="0" rtlCol="0" anchor="ctr"/>
          <a:lstStyle/>
          <a:p>
            <a:pPr indent="0" marL="0">
              <a:buNone/>
            </a:pPr>
            <a:r>
              <a:rPr lang="en-US" sz="1300" dirty="0">
                <a:solidFill>
                  <a:schemeClr val="bg1"/>
                </a:solidFill>
              </a:rPr>
              <a:t>Retrieval + citation checks</a:t>
            </a:r>
            <a:endParaRPr lang="en-US" sz="1300" dirty="0"/>
          </a:p>
        </p:txBody>
      </p:sp>
      <p:sp>
        <p:nvSpPr>
          <p:cNvPr id="12" name="anim-03-l0"/>
          <p:cNvSpPr/>
          <p:nvPr/>
        </p:nvSpPr>
        <p:spPr>
          <a:xfrm>
            <a:off x="5394960" y="1545336"/>
            <a:ext cx="411480" cy="0"/>
          </a:xfrm>
          <a:prstGeom prst="line">
            <a:avLst/>
          </a:prstGeom>
          <a:noFill/>
          <a:ln w="12700">
            <a:solidFill>
              <a:schemeClr val="accent6"/>
            </a:solidFill>
            <a:prstDash val="solid"/>
            <a:tailEnd type="triangle"/>
          </a:ln>
        </p:spPr>
      </p:sp>
      <p:sp>
        <p:nvSpPr>
          <p:cNvPr id="13" name="anim-03-s0"/>
          <p:cNvSpPr/>
          <p:nvPr/>
        </p:nvSpPr>
        <p:spPr>
          <a:xfrm>
            <a:off x="5806440" y="1325880"/>
            <a:ext cx="2788920" cy="438912"/>
          </a:xfrm>
          <a:prstGeom prst="roundRect">
            <a:avLst>
              <a:gd name="adj" fmla="val 12500"/>
            </a:avLst>
          </a:prstGeom>
          <a:solidFill>
            <a:schemeClr val="tx2"/>
          </a:solidFill>
          <a:ln w="12700">
            <a:solidFill>
              <a:schemeClr val="accent5"/>
            </a:solidFill>
          </a:ln>
        </p:spPr>
        <p:txBody>
          <a:bodyPr wrap="square" lIns="0" tIns="101600" rIns="101600" bIns="0" rtlCol="0" anchor="ctr"/>
          <a:lstStyle/>
          <a:p>
            <a:pPr indent="0" marL="0">
              <a:buNone/>
            </a:pPr>
            <a:r>
              <a:rPr lang="en-US" sz="1300" dirty="0">
                <a:solidFill>
                  <a:schemeClr val="bg1"/>
                </a:solidFill>
              </a:rPr>
              <a:t>Neon Postgres · Drizzle</a:t>
            </a:r>
            <a:endParaRPr lang="en-US" sz="1300" dirty="0"/>
          </a:p>
        </p:txBody>
      </p:sp>
      <p:sp>
        <p:nvSpPr>
          <p:cNvPr id="14" name="anim-03-l1"/>
          <p:cNvSpPr/>
          <p:nvPr/>
        </p:nvSpPr>
        <p:spPr>
          <a:xfrm>
            <a:off x="5394960" y="2093976"/>
            <a:ext cx="411480" cy="0"/>
          </a:xfrm>
          <a:prstGeom prst="line">
            <a:avLst/>
          </a:prstGeom>
          <a:noFill/>
          <a:ln w="12700">
            <a:solidFill>
              <a:schemeClr val="accent6"/>
            </a:solidFill>
            <a:prstDash val="solid"/>
            <a:tailEnd type="triangle"/>
          </a:ln>
        </p:spPr>
      </p:sp>
      <p:sp>
        <p:nvSpPr>
          <p:cNvPr id="15" name="anim-03-s1"/>
          <p:cNvSpPr/>
          <p:nvPr/>
        </p:nvSpPr>
        <p:spPr>
          <a:xfrm>
            <a:off x="5806440" y="1874520"/>
            <a:ext cx="2788920" cy="438912"/>
          </a:xfrm>
          <a:prstGeom prst="roundRect">
            <a:avLst>
              <a:gd name="adj" fmla="val 12500"/>
            </a:avLst>
          </a:prstGeom>
          <a:solidFill>
            <a:schemeClr val="tx2"/>
          </a:solidFill>
          <a:ln w="12700">
            <a:solidFill>
              <a:schemeClr val="accent5"/>
            </a:solidFill>
          </a:ln>
        </p:spPr>
        <p:txBody>
          <a:bodyPr wrap="square" lIns="0" tIns="101600" rIns="101600" bIns="0" rtlCol="0" anchor="ctr"/>
          <a:lstStyle/>
          <a:p>
            <a:pPr indent="0" marL="0">
              <a:buNone/>
            </a:pPr>
            <a:r>
              <a:rPr lang="en-US" sz="1300" dirty="0">
                <a:solidFill>
                  <a:schemeClr val="bg1"/>
                </a:solidFill>
              </a:rPr>
              <a:t>Gemma 4 · Google AI Studio</a:t>
            </a:r>
            <a:endParaRPr lang="en-US" sz="1300" dirty="0"/>
          </a:p>
        </p:txBody>
      </p:sp>
      <p:sp>
        <p:nvSpPr>
          <p:cNvPr id="16" name="anim-03-l2"/>
          <p:cNvSpPr/>
          <p:nvPr/>
        </p:nvSpPr>
        <p:spPr>
          <a:xfrm>
            <a:off x="5394960" y="2642616"/>
            <a:ext cx="411480" cy="0"/>
          </a:xfrm>
          <a:prstGeom prst="line">
            <a:avLst/>
          </a:prstGeom>
          <a:noFill/>
          <a:ln w="12700">
            <a:solidFill>
              <a:schemeClr val="accent6"/>
            </a:solidFill>
            <a:prstDash val="solid"/>
            <a:tailEnd type="triangle"/>
          </a:ln>
        </p:spPr>
      </p:sp>
      <p:sp>
        <p:nvSpPr>
          <p:cNvPr id="17" name="anim-03-s2"/>
          <p:cNvSpPr/>
          <p:nvPr/>
        </p:nvSpPr>
        <p:spPr>
          <a:xfrm>
            <a:off x="5806440" y="2423160"/>
            <a:ext cx="2788920" cy="438912"/>
          </a:xfrm>
          <a:prstGeom prst="roundRect">
            <a:avLst>
              <a:gd name="adj" fmla="val 12500"/>
            </a:avLst>
          </a:prstGeom>
          <a:solidFill>
            <a:schemeClr val="tx2"/>
          </a:solidFill>
          <a:ln w="12700">
            <a:solidFill>
              <a:schemeClr val="accent5"/>
            </a:solidFill>
          </a:ln>
        </p:spPr>
        <p:txBody>
          <a:bodyPr wrap="square" lIns="0" tIns="101600" rIns="101600" bIns="0" rtlCol="0" anchor="ctr"/>
          <a:lstStyle/>
          <a:p>
            <a:pPr indent="0" marL="0">
              <a:buNone/>
            </a:pPr>
            <a:r>
              <a:rPr lang="en-US" sz="1300" dirty="0">
                <a:solidFill>
                  <a:schemeClr val="bg1"/>
                </a:solidFill>
              </a:rPr>
              <a:t>Tavily web search</a:t>
            </a:r>
            <a:endParaRPr lang="en-US" sz="1300" dirty="0"/>
          </a:p>
        </p:txBody>
      </p:sp>
      <p:sp>
        <p:nvSpPr>
          <p:cNvPr id="18" name="anim-03-l3"/>
          <p:cNvSpPr/>
          <p:nvPr/>
        </p:nvSpPr>
        <p:spPr>
          <a:xfrm>
            <a:off x="5394960" y="3191256"/>
            <a:ext cx="411480" cy="0"/>
          </a:xfrm>
          <a:prstGeom prst="line">
            <a:avLst/>
          </a:prstGeom>
          <a:noFill/>
          <a:ln w="12700">
            <a:solidFill>
              <a:schemeClr val="accent6"/>
            </a:solidFill>
            <a:prstDash val="solid"/>
            <a:tailEnd type="triangle"/>
          </a:ln>
        </p:spPr>
      </p:sp>
      <p:sp>
        <p:nvSpPr>
          <p:cNvPr id="19" name="anim-03-s3"/>
          <p:cNvSpPr/>
          <p:nvPr/>
        </p:nvSpPr>
        <p:spPr>
          <a:xfrm>
            <a:off x="5806440" y="2971800"/>
            <a:ext cx="2788920" cy="438912"/>
          </a:xfrm>
          <a:prstGeom prst="roundRect">
            <a:avLst>
              <a:gd name="adj" fmla="val 12500"/>
            </a:avLst>
          </a:prstGeom>
          <a:solidFill>
            <a:schemeClr val="tx2"/>
          </a:solidFill>
          <a:ln w="12700">
            <a:solidFill>
              <a:schemeClr val="accent5"/>
            </a:solidFill>
          </a:ln>
        </p:spPr>
        <p:txBody>
          <a:bodyPr wrap="square" lIns="0" tIns="101600" rIns="101600" bIns="0" rtlCol="0" anchor="ctr"/>
          <a:lstStyle/>
          <a:p>
            <a:pPr indent="0" marL="0">
              <a:buNone/>
            </a:pPr>
            <a:r>
              <a:rPr lang="en-US" sz="1300" dirty="0">
                <a:solidFill>
                  <a:schemeClr val="bg1"/>
                </a:solidFill>
              </a:rPr>
              <a:t>Vercel Sandbox</a:t>
            </a:r>
            <a:endParaRPr lang="en-US" sz="1300" dirty="0"/>
          </a:p>
        </p:txBody>
      </p:sp>
      <p:sp>
        <p:nvSpPr>
          <p:cNvPr id="20" name="anim-03-l4"/>
          <p:cNvSpPr/>
          <p:nvPr/>
        </p:nvSpPr>
        <p:spPr>
          <a:xfrm>
            <a:off x="5394960" y="3739896"/>
            <a:ext cx="411480" cy="0"/>
          </a:xfrm>
          <a:prstGeom prst="line">
            <a:avLst/>
          </a:prstGeom>
          <a:noFill/>
          <a:ln w="12700">
            <a:solidFill>
              <a:schemeClr val="accent6"/>
            </a:solidFill>
            <a:prstDash val="solid"/>
            <a:tailEnd type="triangle"/>
          </a:ln>
        </p:spPr>
      </p:sp>
      <p:sp>
        <p:nvSpPr>
          <p:cNvPr id="21" name="anim-03-s4"/>
          <p:cNvSpPr/>
          <p:nvPr/>
        </p:nvSpPr>
        <p:spPr>
          <a:xfrm>
            <a:off x="5806440" y="3520440"/>
            <a:ext cx="2788920" cy="438912"/>
          </a:xfrm>
          <a:prstGeom prst="roundRect">
            <a:avLst>
              <a:gd name="adj" fmla="val 12500"/>
            </a:avLst>
          </a:prstGeom>
          <a:solidFill>
            <a:schemeClr val="tx2"/>
          </a:solidFill>
          <a:ln w="12700">
            <a:solidFill>
              <a:schemeClr val="accent5"/>
            </a:solidFill>
          </a:ln>
        </p:spPr>
        <p:txBody>
          <a:bodyPr wrap="square" lIns="0" tIns="101600" rIns="101600" bIns="0" rtlCol="0" anchor="ctr"/>
          <a:lstStyle/>
          <a:p>
            <a:pPr indent="0" marL="0">
              <a:buNone/>
            </a:pPr>
            <a:r>
              <a:rPr lang="en-US" sz="1300" dirty="0">
                <a:solidFill>
                  <a:schemeClr val="bg1"/>
                </a:solidFill>
              </a:rPr>
              <a:t>Resend email</a:t>
            </a:r>
            <a:endParaRPr lang="en-US" sz="1300" dirty="0"/>
          </a:p>
        </p:txBody>
      </p:sp>
      <p:sp>
        <p:nvSpPr>
          <p:cNvPr id="22" name="anim-03-l5"/>
          <p:cNvSpPr/>
          <p:nvPr/>
        </p:nvSpPr>
        <p:spPr>
          <a:xfrm>
            <a:off x="5394960" y="4288536"/>
            <a:ext cx="411480" cy="0"/>
          </a:xfrm>
          <a:prstGeom prst="line">
            <a:avLst/>
          </a:prstGeom>
          <a:noFill/>
          <a:ln w="12700">
            <a:solidFill>
              <a:schemeClr val="accent6"/>
            </a:solidFill>
            <a:prstDash val="solid"/>
            <a:tailEnd type="triangle"/>
          </a:ln>
        </p:spPr>
      </p:sp>
      <p:sp>
        <p:nvSpPr>
          <p:cNvPr id="23" name="anim-03-s5"/>
          <p:cNvSpPr/>
          <p:nvPr/>
        </p:nvSpPr>
        <p:spPr>
          <a:xfrm>
            <a:off x="5806440" y="4069080"/>
            <a:ext cx="2788920" cy="438912"/>
          </a:xfrm>
          <a:prstGeom prst="roundRect">
            <a:avLst>
              <a:gd name="adj" fmla="val 12500"/>
            </a:avLst>
          </a:prstGeom>
          <a:solidFill>
            <a:schemeClr val="tx2"/>
          </a:solidFill>
          <a:ln w="12700">
            <a:solidFill>
              <a:schemeClr val="accent5"/>
            </a:solidFill>
          </a:ln>
        </p:spPr>
        <p:txBody>
          <a:bodyPr wrap="square" lIns="0" tIns="101600" rIns="101600" bIns="0" rtlCol="0" anchor="ctr"/>
          <a:lstStyle/>
          <a:p>
            <a:pPr indent="0" marL="0">
              <a:buNone/>
            </a:pPr>
            <a:r>
              <a:rPr lang="en-US" sz="1300" dirty="0">
                <a:solidFill>
                  <a:schemeClr val="bg1"/>
                </a:solidFill>
              </a:rPr>
              <a:t>GitHub · import + sign-in</a:t>
            </a:r>
            <a:endParaRPr lang="en-US" sz="1300" dirty="0"/>
          </a:p>
        </p:txBody>
      </p:sp>
      <p:sp>
        <p:nvSpPr>
          <p:cNvPr id="25" name="Slide Number Placeholder 0"/>
          <p:cNvSpPr>
            <a:spLocks noGrp="1"/>
          </p:cNvSpPr>
          <p:nvPr>
            <p:ph type="sldNum" sz="quarter" idx="4294967295"/>
          </p:nvPr>
        </p:nvSpPr>
        <p:spPr>
          <a:xfrm>
            <a:off x="8138160" y="473659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5857F"/>
                </a:solidFill>
                <a:latin typeface="Courier New"/>
                <a:ea typeface="Courier New"/>
                <a:cs typeface="Courier New"/>
              </a:defRPr>
            </a:lvl1pPr>
          </a:lstStyle>
          <a:p>
            <a:pPr algn="r"/>
            <a:fld id="{F7021451-1387-4CA6-816F-3879F97B5CBC}" type="slidenum">
              <a:rPr b="0" lang="en-US"/>
              <a:t>10</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600"/>
                                        <p:tgtEl>
                                          <p:spTgt spid="5"/>
                                        </p:tgtEl>
                                      </p:cBhvr>
                                    </p:animEffect>
                                  </p:childTnLst>
                                </p:cTn>
                              </p:par>
                            </p:childTnLst>
                          </p:cTn>
                        </p:par>
                        <p:par>
                          <p:cTn id="11" fill="hold">
                            <p:stCondLst>
                              <p:cond delay="280"/>
                            </p:stCondLst>
                            <p:childTnLst>
                              <p:par>
                                <p:cTn id="12" presetID="10" presetClass="entr" presetSubtype="0" fill="hold"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600"/>
                                        <p:tgtEl>
                                          <p:spTgt spid="6"/>
                                        </p:tgtEl>
                                      </p:cBhvr>
                                    </p:animEffect>
                                  </p:childTnLst>
                                </p:cTn>
                              </p:par>
                              <p:par>
                                <p:cTn id="15" presetID="10"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600"/>
                                        <p:tgtEl>
                                          <p:spTgt spid="7"/>
                                        </p:tgtEl>
                                      </p:cBhvr>
                                    </p:animEffect>
                                  </p:childTnLst>
                                </p:cTn>
                              </p:par>
                              <p:par>
                                <p:cTn id="18" presetID="10" presetClass="entr" presetSubtype="0" fill="hold"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600"/>
                                        <p:tgtEl>
                                          <p:spTgt spid="8"/>
                                        </p:tgtEl>
                                      </p:cBhvr>
                                    </p:animEffect>
                                  </p:childTnLst>
                                </p:cTn>
                              </p:par>
                              <p:par>
                                <p:cTn id="21" presetID="10" presetClass="entr" presetSubtype="0" fill="hold"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600"/>
                                        <p:tgtEl>
                                          <p:spTgt spid="9"/>
                                        </p:tgtEl>
                                      </p:cBhvr>
                                    </p:animEffect>
                                  </p:childTnLst>
                                </p:cTn>
                              </p:par>
                              <p:par>
                                <p:cTn id="24" presetID="10" presetClass="entr" presetSubtype="0" fill="hold"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600"/>
                                        <p:tgtEl>
                                          <p:spTgt spid="10"/>
                                        </p:tgtEl>
                                      </p:cBhvr>
                                    </p:animEffect>
                                  </p:childTnLst>
                                </p:cTn>
                              </p:par>
                              <p:par>
                                <p:cTn id="27" presetID="10" presetClass="entr" presetSubtype="0" fill="hold"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600"/>
                                        <p:tgtEl>
                                          <p:spTgt spid="11"/>
                                        </p:tgtEl>
                                      </p:cBhvr>
                                    </p:animEffect>
                                  </p:childTnLst>
                                </p:cTn>
                              </p:par>
                            </p:childTnLst>
                          </p:cTn>
                        </p:par>
                        <p:par>
                          <p:cTn id="30" fill="hold">
                            <p:stCondLst>
                              <p:cond delay="560"/>
                            </p:stCondLst>
                            <p:childTnLst>
                              <p:par>
                                <p:cTn id="31" presetID="10" presetClass="entr" presetSubtype="0" fill="hold" nodeType="with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600"/>
                                        <p:tgtEl>
                                          <p:spTgt spid="12"/>
                                        </p:tgtEl>
                                      </p:cBhvr>
                                    </p:animEffect>
                                  </p:childTnLst>
                                </p:cTn>
                              </p:par>
                              <p:par>
                                <p:cTn id="34" presetID="10" presetClass="entr" presetSubtype="0" fill="hold"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600"/>
                                        <p:tgtEl>
                                          <p:spTgt spid="13"/>
                                        </p:tgtEl>
                                      </p:cBhvr>
                                    </p:animEffect>
                                  </p:childTnLst>
                                </p:cTn>
                              </p:par>
                              <p:par>
                                <p:cTn id="37" presetID="10" presetClass="entr" presetSubtype="0" fill="hold"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600"/>
                                        <p:tgtEl>
                                          <p:spTgt spid="14"/>
                                        </p:tgtEl>
                                      </p:cBhvr>
                                    </p:animEffect>
                                  </p:childTnLst>
                                </p:cTn>
                              </p:par>
                              <p:par>
                                <p:cTn id="40" presetID="10" presetClass="entr" presetSubtype="0" fill="hold"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600"/>
                                        <p:tgtEl>
                                          <p:spTgt spid="15"/>
                                        </p:tgtEl>
                                      </p:cBhvr>
                                    </p:animEffect>
                                  </p:childTnLst>
                                </p:cTn>
                              </p:par>
                              <p:par>
                                <p:cTn id="43" presetID="10" presetClass="entr" presetSubtype="0" fill="hold" nodeType="with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600"/>
                                        <p:tgtEl>
                                          <p:spTgt spid="16"/>
                                        </p:tgtEl>
                                      </p:cBhvr>
                                    </p:animEffect>
                                  </p:childTnLst>
                                </p:cTn>
                              </p:par>
                              <p:par>
                                <p:cTn id="46" presetID="10" presetClass="entr" presetSubtype="0" fill="hold" nodeType="with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600"/>
                                        <p:tgtEl>
                                          <p:spTgt spid="17"/>
                                        </p:tgtEl>
                                      </p:cBhvr>
                                    </p:animEffect>
                                  </p:childTnLst>
                                </p:cTn>
                              </p:par>
                              <p:par>
                                <p:cTn id="49" presetID="10" presetClass="entr" presetSubtype="0" fill="hold" nodeType="with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600"/>
                                        <p:tgtEl>
                                          <p:spTgt spid="18"/>
                                        </p:tgtEl>
                                      </p:cBhvr>
                                    </p:animEffect>
                                  </p:childTnLst>
                                </p:cTn>
                              </p:par>
                              <p:par>
                                <p:cTn id="52" presetID="10" presetClass="entr" presetSubtype="0" fill="hold" nodeType="withEffect">
                                  <p:stCondLst>
                                    <p:cond delay="0"/>
                                  </p:stCondLst>
                                  <p:childTnLst>
                                    <p:set>
                                      <p:cBhvr>
                                        <p:cTn id="53" dur="1" fill="hold">
                                          <p:stCondLst>
                                            <p:cond delay="0"/>
                                          </p:stCondLst>
                                        </p:cTn>
                                        <p:tgtEl>
                                          <p:spTgt spid="19"/>
                                        </p:tgtEl>
                                        <p:attrNameLst>
                                          <p:attrName>style.visibility</p:attrName>
                                        </p:attrNameLst>
                                      </p:cBhvr>
                                      <p:to>
                                        <p:strVal val="visible"/>
                                      </p:to>
                                    </p:set>
                                    <p:animEffect transition="in" filter="fade">
                                      <p:cBhvr>
                                        <p:cTn id="54" dur="600"/>
                                        <p:tgtEl>
                                          <p:spTgt spid="19"/>
                                        </p:tgtEl>
                                      </p:cBhvr>
                                    </p:animEffect>
                                  </p:childTnLst>
                                </p:cTn>
                              </p:par>
                              <p:par>
                                <p:cTn id="55" presetID="10" presetClass="entr" presetSubtype="0" fill="hold" nodeType="withEffect">
                                  <p:stCondLst>
                                    <p:cond delay="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600"/>
                                        <p:tgtEl>
                                          <p:spTgt spid="20"/>
                                        </p:tgtEl>
                                      </p:cBhvr>
                                    </p:animEffect>
                                  </p:childTnLst>
                                </p:cTn>
                              </p:par>
                              <p:par>
                                <p:cTn id="58" presetID="10" presetClass="entr" presetSubtype="0" fill="hold" nodeType="withEffect">
                                  <p:stCondLst>
                                    <p:cond delay="0"/>
                                  </p:stCondLst>
                                  <p:childTnLst>
                                    <p:set>
                                      <p:cBhvr>
                                        <p:cTn id="59" dur="1" fill="hold">
                                          <p:stCondLst>
                                            <p:cond delay="0"/>
                                          </p:stCondLst>
                                        </p:cTn>
                                        <p:tgtEl>
                                          <p:spTgt spid="21"/>
                                        </p:tgtEl>
                                        <p:attrNameLst>
                                          <p:attrName>style.visibility</p:attrName>
                                        </p:attrNameLst>
                                      </p:cBhvr>
                                      <p:to>
                                        <p:strVal val="visible"/>
                                      </p:to>
                                    </p:set>
                                    <p:animEffect transition="in" filter="fade">
                                      <p:cBhvr>
                                        <p:cTn id="60" dur="600"/>
                                        <p:tgtEl>
                                          <p:spTgt spid="21"/>
                                        </p:tgtEl>
                                      </p:cBhvr>
                                    </p:animEffect>
                                  </p:childTnLst>
                                </p:cTn>
                              </p:par>
                              <p:par>
                                <p:cTn id="61" presetID="10" presetClass="entr" presetSubtype="0" fill="hold" nodeType="with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fade">
                                      <p:cBhvr>
                                        <p:cTn id="63" dur="600"/>
                                        <p:tgtEl>
                                          <p:spTgt spid="22"/>
                                        </p:tgtEl>
                                      </p:cBhvr>
                                    </p:animEffect>
                                  </p:childTnLst>
                                </p:cTn>
                              </p:par>
                              <p:par>
                                <p:cTn id="64" presetID="10" presetClass="entr" presetSubtype="0" fill="hold"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6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046720" cy="237744"/>
          </a:xfrm>
          <a:prstGeom prst="rect">
            <a:avLst/>
          </a:prstGeom>
          <a:noFill/>
          <a:ln/>
        </p:spPr>
        <p:txBody>
          <a:bodyPr wrap="square" lIns="0" tIns="0" rIns="0" bIns="0" rtlCol="0" anchor="t"/>
          <a:lstStyle/>
          <a:p>
            <a:pPr algn="l" indent="0" marL="0">
              <a:buNone/>
            </a:pPr>
            <a:r>
              <a:rPr lang="en-US" sz="1100" spc="300" kern="0" dirty="0">
                <a:solidFill>
                  <a:schemeClr val="accent1"/>
                </a:solidFill>
                <a:latin typeface="Courier New" pitchFamily="34" charset="0"/>
                <a:ea typeface="Courier New" pitchFamily="34" charset="-122"/>
                <a:cs typeface="Courier New" pitchFamily="34" charset="-120"/>
              </a:rPr>
              <a:t>SECURITY &amp; PRIVACY</a:t>
            </a:r>
            <a:endParaRPr lang="en-US" sz="1100" dirty="0"/>
          </a:p>
        </p:txBody>
      </p:sp>
      <p:sp>
        <p:nvSpPr>
          <p:cNvPr id="3" name="Text 0"/>
          <p:cNvSpPr/>
          <p:nvPr>
            <p:ph idx="101" type="title" hasCustomPrompt="1"/>
          </p:nvPr>
        </p:nvSpPr>
        <p:spPr>
          <a:xfrm>
            <a:off x="548640" y="548640"/>
            <a:ext cx="8046720" cy="566928"/>
          </a:xfrm>
          <a:prstGeom prst="rect">
            <a:avLst/>
          </a:prstGeom>
          <a:noFill/>
          <a:ln/>
        </p:spPr>
        <p:txBody>
          <a:bodyPr wrap="square" lIns="0" tIns="0" rIns="0" bIns="0" rtlCol="0" anchor="t"/>
          <a:lstStyle/>
          <a:p>
            <a:pPr algn="l" indent="0" marL="0">
              <a:buNone/>
            </a:pPr>
            <a:r>
              <a:rPr lang="en-US" sz="3000" b="1" dirty="0">
                <a:solidFill>
                  <a:schemeClr val="bg1"/>
                </a:solidFill>
              </a:rPr>
              <a:t>Private by default</a:t>
            </a:r>
            <a:endParaRPr lang="en-US" sz="3000" dirty="0"/>
          </a:p>
        </p:txBody>
      </p:sp>
      <p:sp>
        <p:nvSpPr>
          <p:cNvPr id="4" name="anim-01-dot"/>
          <p:cNvSpPr/>
          <p:nvPr/>
        </p:nvSpPr>
        <p:spPr>
          <a:xfrm>
            <a:off x="548640" y="1325880"/>
            <a:ext cx="548640" cy="548640"/>
          </a:xfrm>
          <a:prstGeom prst="ellipse">
            <a:avLst/>
          </a:prstGeom>
          <a:solidFill>
            <a:srgbClr val="1F2A0A"/>
          </a:solidFill>
          <a:ln w="12700">
            <a:solidFill>
              <a:srgbClr val="1F2A0A"/>
            </a:solidFill>
            <a:prstDash val="solid"/>
          </a:ln>
        </p:spPr>
      </p:sp>
      <p:pic>
        <p:nvPicPr>
          <p:cNvPr id="5" name="anim-01-icon" descr="preencoded.png">    </p:cNvPr>
          <p:cNvPicPr>
            <a:picLocks noChangeAspect="1"/>
          </p:cNvPicPr>
          <p:nvPr/>
        </p:nvPicPr>
        <p:blipFill>
          <a:blip r:embed="rId1"/>
          <a:stretch>
            <a:fillRect/>
          </a:stretch>
        </p:blipFill>
        <p:spPr>
          <a:xfrm>
            <a:off x="685800" y="1463040"/>
            <a:ext cx="274320" cy="274320"/>
          </a:xfrm>
          <a:prstGeom prst="rect">
            <a:avLst/>
          </a:prstGeom>
        </p:spPr>
      </p:pic>
      <p:sp>
        <p:nvSpPr>
          <p:cNvPr id="6" name="anim-01-h"/>
          <p:cNvSpPr txBox="1"/>
          <p:nvPr/>
        </p:nvSpPr>
        <p:spPr>
          <a:xfrm>
            <a:off x="1280160" y="1307592"/>
            <a:ext cx="3108960" cy="310896"/>
          </a:xfrm>
          <a:prstGeom prst="rect">
            <a:avLst/>
          </a:prstGeom>
          <a:noFill/>
          <a:ln/>
        </p:spPr>
        <p:txBody>
          <a:bodyPr wrap="square" lIns="0" tIns="0" rIns="0" bIns="0" rtlCol="0" anchor="ctr"/>
          <a:lstStyle/>
          <a:p>
            <a:pPr indent="0" marL="0">
              <a:buNone/>
            </a:pPr>
            <a:r>
              <a:rPr lang="en-US" sz="1600" b="1" dirty="0">
                <a:solidFill>
                  <a:schemeClr val="bg1"/>
                </a:solidFill>
              </a:rPr>
              <a:t>Owner-only data</a:t>
            </a:r>
            <a:endParaRPr lang="en-US" sz="1600" dirty="0"/>
          </a:p>
        </p:txBody>
      </p:sp>
      <p:sp>
        <p:nvSpPr>
          <p:cNvPr id="7" name="anim-01-b"/>
          <p:cNvSpPr txBox="1"/>
          <p:nvPr/>
        </p:nvSpPr>
        <p:spPr>
          <a:xfrm>
            <a:off x="1280160" y="1636776"/>
            <a:ext cx="3154680" cy="566928"/>
          </a:xfrm>
          <a:prstGeom prst="rect">
            <a:avLst/>
          </a:prstGeom>
          <a:noFill/>
          <a:ln/>
        </p:spPr>
        <p:txBody>
          <a:bodyPr wrap="square" lIns="0" tIns="0" rIns="0" bIns="0" rtlCol="0" anchor="t"/>
          <a:lstStyle/>
          <a:p>
            <a:pPr indent="0" marL="0">
              <a:buNone/>
            </a:pPr>
            <a:r>
              <a:rPr lang="en-US" sz="1400" dirty="0">
                <a:solidFill>
                  <a:schemeClr val="bg2"/>
                </a:solidFill>
              </a:rPr>
              <a:t>Every API checks ownership; other users get a 404.</a:t>
            </a:r>
            <a:endParaRPr lang="en-US" sz="1400" dirty="0"/>
          </a:p>
        </p:txBody>
      </p:sp>
      <p:sp>
        <p:nvSpPr>
          <p:cNvPr id="8" name="anim-02-dot"/>
          <p:cNvSpPr/>
          <p:nvPr/>
        </p:nvSpPr>
        <p:spPr>
          <a:xfrm>
            <a:off x="4663440" y="1325880"/>
            <a:ext cx="548640" cy="548640"/>
          </a:xfrm>
          <a:prstGeom prst="ellipse">
            <a:avLst/>
          </a:prstGeom>
          <a:solidFill>
            <a:srgbClr val="1F2A0A"/>
          </a:solidFill>
          <a:ln w="12700">
            <a:solidFill>
              <a:srgbClr val="1F2A0A"/>
            </a:solidFill>
            <a:prstDash val="solid"/>
          </a:ln>
        </p:spPr>
      </p:sp>
      <p:pic>
        <p:nvPicPr>
          <p:cNvPr id="9" name="anim-02-icon" descr="preencoded.png">    </p:cNvPr>
          <p:cNvPicPr>
            <a:picLocks noChangeAspect="1"/>
          </p:cNvPicPr>
          <p:nvPr/>
        </p:nvPicPr>
        <p:blipFill>
          <a:blip r:embed="rId2"/>
          <a:stretch>
            <a:fillRect/>
          </a:stretch>
        </p:blipFill>
        <p:spPr>
          <a:xfrm>
            <a:off x="4800600" y="1463040"/>
            <a:ext cx="274320" cy="274320"/>
          </a:xfrm>
          <a:prstGeom prst="rect">
            <a:avLst/>
          </a:prstGeom>
        </p:spPr>
      </p:pic>
      <p:sp>
        <p:nvSpPr>
          <p:cNvPr id="10" name="anim-02-h"/>
          <p:cNvSpPr txBox="1"/>
          <p:nvPr/>
        </p:nvSpPr>
        <p:spPr>
          <a:xfrm>
            <a:off x="5394960" y="1307592"/>
            <a:ext cx="3108960" cy="310896"/>
          </a:xfrm>
          <a:prstGeom prst="rect">
            <a:avLst/>
          </a:prstGeom>
          <a:noFill/>
          <a:ln/>
        </p:spPr>
        <p:txBody>
          <a:bodyPr wrap="square" lIns="0" tIns="0" rIns="0" bIns="0" rtlCol="0" anchor="ctr"/>
          <a:lstStyle/>
          <a:p>
            <a:pPr indent="0" marL="0">
              <a:buNone/>
            </a:pPr>
            <a:r>
              <a:rPr lang="en-US" sz="1600" b="1" dirty="0">
                <a:solidFill>
                  <a:schemeClr val="bg1"/>
                </a:solidFill>
              </a:rPr>
              <a:t>Rate limits</a:t>
            </a:r>
            <a:endParaRPr lang="en-US" sz="1600" dirty="0"/>
          </a:p>
        </p:txBody>
      </p:sp>
      <p:sp>
        <p:nvSpPr>
          <p:cNvPr id="11" name="anim-02-b"/>
          <p:cNvSpPr txBox="1"/>
          <p:nvPr/>
        </p:nvSpPr>
        <p:spPr>
          <a:xfrm>
            <a:off x="5394960" y="1636776"/>
            <a:ext cx="3154680" cy="566928"/>
          </a:xfrm>
          <a:prstGeom prst="rect">
            <a:avLst/>
          </a:prstGeom>
          <a:noFill/>
          <a:ln/>
        </p:spPr>
        <p:txBody>
          <a:bodyPr wrap="square" lIns="0" tIns="0" rIns="0" bIns="0" rtlCol="0" anchor="t"/>
          <a:lstStyle/>
          <a:p>
            <a:pPr indent="0" marL="0">
              <a:buNone/>
            </a:pPr>
            <a:r>
              <a:rPr lang="en-US" sz="1400" dirty="0">
                <a:solidFill>
                  <a:schemeClr val="bg2"/>
                </a:solidFill>
              </a:rPr>
              <a:t>Postgres-backed limits on chat, search, imports, runs and sign-in.</a:t>
            </a:r>
            <a:endParaRPr lang="en-US" sz="1400" dirty="0"/>
          </a:p>
        </p:txBody>
      </p:sp>
      <p:sp>
        <p:nvSpPr>
          <p:cNvPr id="12" name="anim-03-dot"/>
          <p:cNvSpPr/>
          <p:nvPr/>
        </p:nvSpPr>
        <p:spPr>
          <a:xfrm>
            <a:off x="548640" y="2423160"/>
            <a:ext cx="548640" cy="548640"/>
          </a:xfrm>
          <a:prstGeom prst="ellipse">
            <a:avLst/>
          </a:prstGeom>
          <a:solidFill>
            <a:srgbClr val="1F2A0A"/>
          </a:solidFill>
          <a:ln w="12700">
            <a:solidFill>
              <a:srgbClr val="1F2A0A"/>
            </a:solidFill>
            <a:prstDash val="solid"/>
          </a:ln>
        </p:spPr>
      </p:sp>
      <p:pic>
        <p:nvPicPr>
          <p:cNvPr id="13" name="anim-03-icon" descr="preencoded.png">    </p:cNvPr>
          <p:cNvPicPr>
            <a:picLocks noChangeAspect="1"/>
          </p:cNvPicPr>
          <p:nvPr/>
        </p:nvPicPr>
        <p:blipFill>
          <a:blip r:embed="rId3"/>
          <a:stretch>
            <a:fillRect/>
          </a:stretch>
        </p:blipFill>
        <p:spPr>
          <a:xfrm>
            <a:off x="685800" y="2560320"/>
            <a:ext cx="274320" cy="274320"/>
          </a:xfrm>
          <a:prstGeom prst="rect">
            <a:avLst/>
          </a:prstGeom>
        </p:spPr>
      </p:pic>
      <p:sp>
        <p:nvSpPr>
          <p:cNvPr id="14" name="anim-03-h"/>
          <p:cNvSpPr txBox="1"/>
          <p:nvPr/>
        </p:nvSpPr>
        <p:spPr>
          <a:xfrm>
            <a:off x="1280160" y="2404872"/>
            <a:ext cx="3108960" cy="310896"/>
          </a:xfrm>
          <a:prstGeom prst="rect">
            <a:avLst/>
          </a:prstGeom>
          <a:noFill/>
          <a:ln/>
        </p:spPr>
        <p:txBody>
          <a:bodyPr wrap="square" lIns="0" tIns="0" rIns="0" bIns="0" rtlCol="0" anchor="ctr"/>
          <a:lstStyle/>
          <a:p>
            <a:pPr indent="0" marL="0">
              <a:buNone/>
            </a:pPr>
            <a:r>
              <a:rPr lang="en-US" sz="1600" b="1" dirty="0">
                <a:solidFill>
                  <a:schemeClr val="bg1"/>
                </a:solidFill>
              </a:rPr>
              <a:t>Prompt-injection guards</a:t>
            </a:r>
            <a:endParaRPr lang="en-US" sz="1600" dirty="0"/>
          </a:p>
        </p:txBody>
      </p:sp>
      <p:sp>
        <p:nvSpPr>
          <p:cNvPr id="15" name="anim-03-b"/>
          <p:cNvSpPr txBox="1"/>
          <p:nvPr/>
        </p:nvSpPr>
        <p:spPr>
          <a:xfrm>
            <a:off x="1280160" y="2734056"/>
            <a:ext cx="3154680" cy="566928"/>
          </a:xfrm>
          <a:prstGeom prst="rect">
            <a:avLst/>
          </a:prstGeom>
          <a:noFill/>
          <a:ln/>
        </p:spPr>
        <p:txBody>
          <a:bodyPr wrap="square" lIns="0" tIns="0" rIns="0" bIns="0" rtlCol="0" anchor="t"/>
          <a:lstStyle/>
          <a:p>
            <a:pPr indent="0" marL="0">
              <a:buNone/>
            </a:pPr>
            <a:r>
              <a:rPr lang="en-US" sz="1400" dirty="0">
                <a:solidFill>
                  <a:schemeClr val="bg2"/>
                </a:solidFill>
              </a:rPr>
              <a:t>Repository text is delimited and neutralized before Gemma sees it.</a:t>
            </a:r>
            <a:endParaRPr lang="en-US" sz="1400" dirty="0"/>
          </a:p>
        </p:txBody>
      </p:sp>
      <p:sp>
        <p:nvSpPr>
          <p:cNvPr id="16" name="anim-04-dot"/>
          <p:cNvSpPr/>
          <p:nvPr/>
        </p:nvSpPr>
        <p:spPr>
          <a:xfrm>
            <a:off x="4663440" y="2423160"/>
            <a:ext cx="548640" cy="548640"/>
          </a:xfrm>
          <a:prstGeom prst="ellipse">
            <a:avLst/>
          </a:prstGeom>
          <a:solidFill>
            <a:srgbClr val="1F2A0A"/>
          </a:solidFill>
          <a:ln w="12700">
            <a:solidFill>
              <a:srgbClr val="1F2A0A"/>
            </a:solidFill>
            <a:prstDash val="solid"/>
          </a:ln>
        </p:spPr>
      </p:sp>
      <p:pic>
        <p:nvPicPr>
          <p:cNvPr id="17" name="anim-04-icon" descr="preencoded.png">    </p:cNvPr>
          <p:cNvPicPr>
            <a:picLocks noChangeAspect="1"/>
          </p:cNvPicPr>
          <p:nvPr/>
        </p:nvPicPr>
        <p:blipFill>
          <a:blip r:embed="rId4"/>
          <a:stretch>
            <a:fillRect/>
          </a:stretch>
        </p:blipFill>
        <p:spPr>
          <a:xfrm>
            <a:off x="4800600" y="2560320"/>
            <a:ext cx="274320" cy="274320"/>
          </a:xfrm>
          <a:prstGeom prst="rect">
            <a:avLst/>
          </a:prstGeom>
        </p:spPr>
      </p:pic>
      <p:sp>
        <p:nvSpPr>
          <p:cNvPr id="18" name="anim-04-h"/>
          <p:cNvSpPr txBox="1"/>
          <p:nvPr/>
        </p:nvSpPr>
        <p:spPr>
          <a:xfrm>
            <a:off x="5394960" y="2404872"/>
            <a:ext cx="3108960" cy="310896"/>
          </a:xfrm>
          <a:prstGeom prst="rect">
            <a:avLst/>
          </a:prstGeom>
          <a:noFill/>
          <a:ln/>
        </p:spPr>
        <p:txBody>
          <a:bodyPr wrap="square" lIns="0" tIns="0" rIns="0" bIns="0" rtlCol="0" anchor="ctr"/>
          <a:lstStyle/>
          <a:p>
            <a:pPr indent="0" marL="0">
              <a:buNone/>
            </a:pPr>
            <a:r>
              <a:rPr lang="en-US" sz="1600" b="1" dirty="0">
                <a:solidFill>
                  <a:schemeClr val="bg1"/>
                </a:solidFill>
              </a:rPr>
              <a:t>Sandboxed code</a:t>
            </a:r>
            <a:endParaRPr lang="en-US" sz="1600" dirty="0"/>
          </a:p>
        </p:txBody>
      </p:sp>
      <p:sp>
        <p:nvSpPr>
          <p:cNvPr id="19" name="anim-04-b"/>
          <p:cNvSpPr txBox="1"/>
          <p:nvPr/>
        </p:nvSpPr>
        <p:spPr>
          <a:xfrm>
            <a:off x="5394960" y="2734056"/>
            <a:ext cx="3154680" cy="566928"/>
          </a:xfrm>
          <a:prstGeom prst="rect">
            <a:avLst/>
          </a:prstGeom>
          <a:noFill/>
          <a:ln/>
        </p:spPr>
        <p:txBody>
          <a:bodyPr wrap="square" lIns="0" tIns="0" rIns="0" bIns="0" rtlCol="0" anchor="t"/>
          <a:lstStyle/>
          <a:p>
            <a:pPr indent="0" marL="0">
              <a:buNone/>
            </a:pPr>
            <a:r>
              <a:rPr lang="en-US" sz="1400" dirty="0">
                <a:solidFill>
                  <a:schemeClr val="bg2"/>
                </a:solidFill>
              </a:rPr>
              <a:t>User code runs in a microVM with no network, never on the server.</a:t>
            </a:r>
            <a:endParaRPr lang="en-US" sz="1400" dirty="0"/>
          </a:p>
        </p:txBody>
      </p:sp>
      <p:sp>
        <p:nvSpPr>
          <p:cNvPr id="20" name="anim-05-dot"/>
          <p:cNvSpPr/>
          <p:nvPr/>
        </p:nvSpPr>
        <p:spPr>
          <a:xfrm>
            <a:off x="548640" y="3520440"/>
            <a:ext cx="548640" cy="548640"/>
          </a:xfrm>
          <a:prstGeom prst="ellipse">
            <a:avLst/>
          </a:prstGeom>
          <a:solidFill>
            <a:srgbClr val="1F2A0A"/>
          </a:solidFill>
          <a:ln w="12700">
            <a:solidFill>
              <a:srgbClr val="1F2A0A"/>
            </a:solidFill>
            <a:prstDash val="solid"/>
          </a:ln>
        </p:spPr>
      </p:sp>
      <p:pic>
        <p:nvPicPr>
          <p:cNvPr id="21" name="anim-05-icon" descr="preencoded.png">    </p:cNvPr>
          <p:cNvPicPr>
            <a:picLocks noChangeAspect="1"/>
          </p:cNvPicPr>
          <p:nvPr/>
        </p:nvPicPr>
        <p:blipFill>
          <a:blip r:embed="rId5"/>
          <a:stretch>
            <a:fillRect/>
          </a:stretch>
        </p:blipFill>
        <p:spPr>
          <a:xfrm>
            <a:off x="685800" y="3657600"/>
            <a:ext cx="274320" cy="274320"/>
          </a:xfrm>
          <a:prstGeom prst="rect">
            <a:avLst/>
          </a:prstGeom>
        </p:spPr>
      </p:pic>
      <p:sp>
        <p:nvSpPr>
          <p:cNvPr id="22" name="anim-05-h"/>
          <p:cNvSpPr txBox="1"/>
          <p:nvPr/>
        </p:nvSpPr>
        <p:spPr>
          <a:xfrm>
            <a:off x="1280160" y="3502152"/>
            <a:ext cx="3108960" cy="310896"/>
          </a:xfrm>
          <a:prstGeom prst="rect">
            <a:avLst/>
          </a:prstGeom>
          <a:noFill/>
          <a:ln/>
        </p:spPr>
        <p:txBody>
          <a:bodyPr wrap="square" lIns="0" tIns="0" rIns="0" bIns="0" rtlCol="0" anchor="ctr"/>
          <a:lstStyle/>
          <a:p>
            <a:pPr indent="0" marL="0">
              <a:buNone/>
            </a:pPr>
            <a:r>
              <a:rPr lang="en-US" sz="1600" b="1" dirty="0">
                <a:solidFill>
                  <a:schemeClr val="bg1"/>
                </a:solidFill>
              </a:rPr>
              <a:t>Secrets stay server-side</a:t>
            </a:r>
            <a:endParaRPr lang="en-US" sz="1600" dirty="0"/>
          </a:p>
        </p:txBody>
      </p:sp>
      <p:sp>
        <p:nvSpPr>
          <p:cNvPr id="23" name="anim-05-b"/>
          <p:cNvSpPr txBox="1"/>
          <p:nvPr/>
        </p:nvSpPr>
        <p:spPr>
          <a:xfrm>
            <a:off x="1280160" y="3831336"/>
            <a:ext cx="3154680" cy="566928"/>
          </a:xfrm>
          <a:prstGeom prst="rect">
            <a:avLst/>
          </a:prstGeom>
          <a:noFill/>
          <a:ln/>
        </p:spPr>
        <p:txBody>
          <a:bodyPr wrap="square" lIns="0" tIns="0" rIns="0" bIns="0" rtlCol="0" anchor="t"/>
          <a:lstStyle/>
          <a:p>
            <a:pPr indent="0" marL="0">
              <a:buNone/>
            </a:pPr>
            <a:r>
              <a:rPr lang="en-US" sz="1400" dirty="0">
                <a:solidFill>
                  <a:schemeClr val="bg2"/>
                </a:solidFill>
              </a:rPr>
              <a:t>OAuth tokens encrypted at rest; .env and key files filtered at import.</a:t>
            </a:r>
            <a:endParaRPr lang="en-US" sz="1400" dirty="0"/>
          </a:p>
        </p:txBody>
      </p:sp>
      <p:sp>
        <p:nvSpPr>
          <p:cNvPr id="24" name="anim-06-dot"/>
          <p:cNvSpPr/>
          <p:nvPr/>
        </p:nvSpPr>
        <p:spPr>
          <a:xfrm>
            <a:off x="4663440" y="3520440"/>
            <a:ext cx="548640" cy="548640"/>
          </a:xfrm>
          <a:prstGeom prst="ellipse">
            <a:avLst/>
          </a:prstGeom>
          <a:solidFill>
            <a:srgbClr val="1F2A0A"/>
          </a:solidFill>
          <a:ln w="12700">
            <a:solidFill>
              <a:srgbClr val="1F2A0A"/>
            </a:solidFill>
            <a:prstDash val="solid"/>
          </a:ln>
        </p:spPr>
      </p:sp>
      <p:pic>
        <p:nvPicPr>
          <p:cNvPr id="25" name="anim-06-icon" descr="preencoded.png">    </p:cNvPr>
          <p:cNvPicPr>
            <a:picLocks noChangeAspect="1"/>
          </p:cNvPicPr>
          <p:nvPr/>
        </p:nvPicPr>
        <p:blipFill>
          <a:blip r:embed="rId6"/>
          <a:stretch>
            <a:fillRect/>
          </a:stretch>
        </p:blipFill>
        <p:spPr>
          <a:xfrm>
            <a:off x="4800600" y="3657600"/>
            <a:ext cx="274320" cy="274320"/>
          </a:xfrm>
          <a:prstGeom prst="rect">
            <a:avLst/>
          </a:prstGeom>
        </p:spPr>
      </p:pic>
      <p:sp>
        <p:nvSpPr>
          <p:cNvPr id="26" name="anim-06-h"/>
          <p:cNvSpPr txBox="1"/>
          <p:nvPr/>
        </p:nvSpPr>
        <p:spPr>
          <a:xfrm>
            <a:off x="5394960" y="3502152"/>
            <a:ext cx="3108960" cy="310896"/>
          </a:xfrm>
          <a:prstGeom prst="rect">
            <a:avLst/>
          </a:prstGeom>
          <a:noFill/>
          <a:ln/>
        </p:spPr>
        <p:txBody>
          <a:bodyPr wrap="square" lIns="0" tIns="0" rIns="0" bIns="0" rtlCol="0" anchor="ctr"/>
          <a:lstStyle/>
          <a:p>
            <a:pPr indent="0" marL="0">
              <a:buNone/>
            </a:pPr>
            <a:r>
              <a:rPr lang="en-US" sz="1600" b="1" dirty="0">
                <a:solidFill>
                  <a:schemeClr val="bg1"/>
                </a:solidFill>
              </a:rPr>
              <a:t>Strong passwords</a:t>
            </a:r>
            <a:endParaRPr lang="en-US" sz="1600" dirty="0"/>
          </a:p>
        </p:txBody>
      </p:sp>
      <p:sp>
        <p:nvSpPr>
          <p:cNvPr id="27" name="anim-06-b"/>
          <p:cNvSpPr txBox="1"/>
          <p:nvPr/>
        </p:nvSpPr>
        <p:spPr>
          <a:xfrm>
            <a:off x="5394960" y="3831336"/>
            <a:ext cx="3154680" cy="566928"/>
          </a:xfrm>
          <a:prstGeom prst="rect">
            <a:avLst/>
          </a:prstGeom>
          <a:noFill/>
          <a:ln/>
        </p:spPr>
        <p:txBody>
          <a:bodyPr wrap="square" lIns="0" tIns="0" rIns="0" bIns="0" rtlCol="0" anchor="t"/>
          <a:lstStyle/>
          <a:p>
            <a:pPr indent="0" marL="0">
              <a:buNone/>
            </a:pPr>
            <a:r>
              <a:rPr lang="en-US" sz="1400" dirty="0">
                <a:solidFill>
                  <a:schemeClr val="bg2"/>
                </a:solidFill>
              </a:rPr>
              <a:t>Argon2id hashing and origin checks on every auth request.</a:t>
            </a:r>
            <a:endParaRPr lang="en-US" sz="1400" dirty="0"/>
          </a:p>
        </p:txBody>
      </p:sp>
      <p:sp>
        <p:nvSpPr>
          <p:cNvPr id="25" name="Slide Number Placeholder 0"/>
          <p:cNvSpPr>
            <a:spLocks noGrp="1"/>
          </p:cNvSpPr>
          <p:nvPr>
            <p:ph type="sldNum" sz="quarter" idx="4294967295"/>
          </p:nvPr>
        </p:nvSpPr>
        <p:spPr>
          <a:xfrm>
            <a:off x="8138160" y="473659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5857F"/>
                </a:solidFill>
                <a:latin typeface="Courier New"/>
                <a:ea typeface="Courier New"/>
                <a:cs typeface="Courier New"/>
              </a:defRPr>
            </a:lvl1pPr>
          </a:lstStyle>
          <a:p>
            <a:pPr algn="r"/>
            <a:fld id="{F7021451-1387-4CA6-816F-3879F97B5CBC}" type="slidenum">
              <a:rPr b="0" lang="en-US"/>
              <a:t>11</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600"/>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600"/>
                                        <p:tgtEl>
                                          <p:spTgt spid="6"/>
                                        </p:tgtEl>
                                      </p:cBhvr>
                                    </p:animEffect>
                                  </p:childTnLst>
                                </p:cTn>
                              </p:par>
                              <p:par>
                                <p:cTn id="14" presetID="10" presetClass="entr" presetSubtype="0" fill="hold"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600"/>
                                        <p:tgtEl>
                                          <p:spTgt spid="7"/>
                                        </p:tgtEl>
                                      </p:cBhvr>
                                    </p:animEffect>
                                  </p:childTnLst>
                                </p:cTn>
                              </p:par>
                            </p:childTnLst>
                          </p:cTn>
                        </p:par>
                        <p:par>
                          <p:cTn id="17" fill="hold">
                            <p:stCondLst>
                              <p:cond delay="280"/>
                            </p:stCondLst>
                            <p:childTnLst>
                              <p:par>
                                <p:cTn id="18" presetID="10" presetClass="entr" presetSubtype="0" fill="hold"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600"/>
                                        <p:tgtEl>
                                          <p:spTgt spid="8"/>
                                        </p:tgtEl>
                                      </p:cBhvr>
                                    </p:animEffect>
                                  </p:childTnLst>
                                </p:cTn>
                              </p:par>
                              <p:par>
                                <p:cTn id="21" presetID="10" presetClass="entr" presetSubtype="0" fill="hold"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600"/>
                                        <p:tgtEl>
                                          <p:spTgt spid="9"/>
                                        </p:tgtEl>
                                      </p:cBhvr>
                                    </p:animEffect>
                                  </p:childTnLst>
                                </p:cTn>
                              </p:par>
                              <p:par>
                                <p:cTn id="24" presetID="10" presetClass="entr" presetSubtype="0" fill="hold"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600"/>
                                        <p:tgtEl>
                                          <p:spTgt spid="10"/>
                                        </p:tgtEl>
                                      </p:cBhvr>
                                    </p:animEffect>
                                  </p:childTnLst>
                                </p:cTn>
                              </p:par>
                              <p:par>
                                <p:cTn id="27" presetID="10" presetClass="entr" presetSubtype="0" fill="hold"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600"/>
                                        <p:tgtEl>
                                          <p:spTgt spid="11"/>
                                        </p:tgtEl>
                                      </p:cBhvr>
                                    </p:animEffect>
                                  </p:childTnLst>
                                </p:cTn>
                              </p:par>
                            </p:childTnLst>
                          </p:cTn>
                        </p:par>
                        <p:par>
                          <p:cTn id="30" fill="hold">
                            <p:stCondLst>
                              <p:cond delay="560"/>
                            </p:stCondLst>
                            <p:childTnLst>
                              <p:par>
                                <p:cTn id="31" presetID="10" presetClass="entr" presetSubtype="0" fill="hold" nodeType="with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600"/>
                                        <p:tgtEl>
                                          <p:spTgt spid="12"/>
                                        </p:tgtEl>
                                      </p:cBhvr>
                                    </p:animEffect>
                                  </p:childTnLst>
                                </p:cTn>
                              </p:par>
                              <p:par>
                                <p:cTn id="34" presetID="10" presetClass="entr" presetSubtype="0" fill="hold"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600"/>
                                        <p:tgtEl>
                                          <p:spTgt spid="13"/>
                                        </p:tgtEl>
                                      </p:cBhvr>
                                    </p:animEffect>
                                  </p:childTnLst>
                                </p:cTn>
                              </p:par>
                              <p:par>
                                <p:cTn id="37" presetID="10" presetClass="entr" presetSubtype="0" fill="hold"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600"/>
                                        <p:tgtEl>
                                          <p:spTgt spid="14"/>
                                        </p:tgtEl>
                                      </p:cBhvr>
                                    </p:animEffect>
                                  </p:childTnLst>
                                </p:cTn>
                              </p:par>
                              <p:par>
                                <p:cTn id="40" presetID="10" presetClass="entr" presetSubtype="0" fill="hold"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600"/>
                                        <p:tgtEl>
                                          <p:spTgt spid="15"/>
                                        </p:tgtEl>
                                      </p:cBhvr>
                                    </p:animEffect>
                                  </p:childTnLst>
                                </p:cTn>
                              </p:par>
                            </p:childTnLst>
                          </p:cTn>
                        </p:par>
                        <p:par>
                          <p:cTn id="43" fill="hold">
                            <p:stCondLst>
                              <p:cond delay="840"/>
                            </p:stCondLst>
                            <p:childTnLst>
                              <p:par>
                                <p:cTn id="44" presetID="10" presetClass="entr" presetSubtype="0" fill="hold" nodeType="with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600"/>
                                        <p:tgtEl>
                                          <p:spTgt spid="16"/>
                                        </p:tgtEl>
                                      </p:cBhvr>
                                    </p:animEffect>
                                  </p:childTnLst>
                                </p:cTn>
                              </p:par>
                              <p:par>
                                <p:cTn id="47" presetID="10" presetClass="entr" presetSubtype="0" fill="hold" nodeType="with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600"/>
                                        <p:tgtEl>
                                          <p:spTgt spid="17"/>
                                        </p:tgtEl>
                                      </p:cBhvr>
                                    </p:animEffect>
                                  </p:childTnLst>
                                </p:cTn>
                              </p:par>
                              <p:par>
                                <p:cTn id="50" presetID="10" presetClass="entr" presetSubtype="0" fill="hold"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600"/>
                                        <p:tgtEl>
                                          <p:spTgt spid="18"/>
                                        </p:tgtEl>
                                      </p:cBhvr>
                                    </p:animEffect>
                                  </p:childTnLst>
                                </p:cTn>
                              </p:par>
                              <p:par>
                                <p:cTn id="53" presetID="10" presetClass="entr" presetSubtype="0" fill="hold"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600"/>
                                        <p:tgtEl>
                                          <p:spTgt spid="19"/>
                                        </p:tgtEl>
                                      </p:cBhvr>
                                    </p:animEffect>
                                  </p:childTnLst>
                                </p:cTn>
                              </p:par>
                            </p:childTnLst>
                          </p:cTn>
                        </p:par>
                        <p:par>
                          <p:cTn id="56" fill="hold">
                            <p:stCondLst>
                              <p:cond delay="1120"/>
                            </p:stCondLst>
                            <p:childTnLst>
                              <p:par>
                                <p:cTn id="57" presetID="10" presetClass="entr" presetSubtype="0" fill="hold" nodeType="withEffect">
                                  <p:stCondLst>
                                    <p:cond delay="0"/>
                                  </p:stCondLst>
                                  <p:childTnLst>
                                    <p:set>
                                      <p:cBhvr>
                                        <p:cTn id="58" dur="1" fill="hold">
                                          <p:stCondLst>
                                            <p:cond delay="0"/>
                                          </p:stCondLst>
                                        </p:cTn>
                                        <p:tgtEl>
                                          <p:spTgt spid="20"/>
                                        </p:tgtEl>
                                        <p:attrNameLst>
                                          <p:attrName>style.visibility</p:attrName>
                                        </p:attrNameLst>
                                      </p:cBhvr>
                                      <p:to>
                                        <p:strVal val="visible"/>
                                      </p:to>
                                    </p:set>
                                    <p:animEffect transition="in" filter="fade">
                                      <p:cBhvr>
                                        <p:cTn id="59" dur="600"/>
                                        <p:tgtEl>
                                          <p:spTgt spid="20"/>
                                        </p:tgtEl>
                                      </p:cBhvr>
                                    </p:animEffect>
                                  </p:childTnLst>
                                </p:cTn>
                              </p:par>
                              <p:par>
                                <p:cTn id="60" presetID="10" presetClass="entr" presetSubtype="0" fill="hold" nodeType="withEffect">
                                  <p:stCondLst>
                                    <p:cond delay="0"/>
                                  </p:stCondLst>
                                  <p:childTnLst>
                                    <p:set>
                                      <p:cBhvr>
                                        <p:cTn id="61" dur="1" fill="hold">
                                          <p:stCondLst>
                                            <p:cond delay="0"/>
                                          </p:stCondLst>
                                        </p:cTn>
                                        <p:tgtEl>
                                          <p:spTgt spid="21"/>
                                        </p:tgtEl>
                                        <p:attrNameLst>
                                          <p:attrName>style.visibility</p:attrName>
                                        </p:attrNameLst>
                                      </p:cBhvr>
                                      <p:to>
                                        <p:strVal val="visible"/>
                                      </p:to>
                                    </p:set>
                                    <p:animEffect transition="in" filter="fade">
                                      <p:cBhvr>
                                        <p:cTn id="62" dur="600"/>
                                        <p:tgtEl>
                                          <p:spTgt spid="21"/>
                                        </p:tgtEl>
                                      </p:cBhvr>
                                    </p:animEffect>
                                  </p:childTnLst>
                                </p:cTn>
                              </p:par>
                              <p:par>
                                <p:cTn id="63" presetID="10" presetClass="entr" presetSubtype="0" fill="hold" nodeType="withEffect">
                                  <p:stCondLst>
                                    <p:cond delay="0"/>
                                  </p:stCondLst>
                                  <p:childTnLst>
                                    <p:set>
                                      <p:cBhvr>
                                        <p:cTn id="64" dur="1" fill="hold">
                                          <p:stCondLst>
                                            <p:cond delay="0"/>
                                          </p:stCondLst>
                                        </p:cTn>
                                        <p:tgtEl>
                                          <p:spTgt spid="22"/>
                                        </p:tgtEl>
                                        <p:attrNameLst>
                                          <p:attrName>style.visibility</p:attrName>
                                        </p:attrNameLst>
                                      </p:cBhvr>
                                      <p:to>
                                        <p:strVal val="visible"/>
                                      </p:to>
                                    </p:set>
                                    <p:animEffect transition="in" filter="fade">
                                      <p:cBhvr>
                                        <p:cTn id="65" dur="600"/>
                                        <p:tgtEl>
                                          <p:spTgt spid="22"/>
                                        </p:tgtEl>
                                      </p:cBhvr>
                                    </p:animEffect>
                                  </p:childTnLst>
                                </p:cTn>
                              </p:par>
                              <p:par>
                                <p:cTn id="66" presetID="10" presetClass="entr" presetSubtype="0" fill="hold" nodeType="withEffect">
                                  <p:stCondLst>
                                    <p:cond delay="0"/>
                                  </p:stCondLst>
                                  <p:childTnLst>
                                    <p:set>
                                      <p:cBhvr>
                                        <p:cTn id="67" dur="1" fill="hold">
                                          <p:stCondLst>
                                            <p:cond delay="0"/>
                                          </p:stCondLst>
                                        </p:cTn>
                                        <p:tgtEl>
                                          <p:spTgt spid="23"/>
                                        </p:tgtEl>
                                        <p:attrNameLst>
                                          <p:attrName>style.visibility</p:attrName>
                                        </p:attrNameLst>
                                      </p:cBhvr>
                                      <p:to>
                                        <p:strVal val="visible"/>
                                      </p:to>
                                    </p:set>
                                    <p:animEffect transition="in" filter="fade">
                                      <p:cBhvr>
                                        <p:cTn id="68" dur="600"/>
                                        <p:tgtEl>
                                          <p:spTgt spid="23"/>
                                        </p:tgtEl>
                                      </p:cBhvr>
                                    </p:animEffect>
                                  </p:childTnLst>
                                </p:cTn>
                              </p:par>
                            </p:childTnLst>
                          </p:cTn>
                        </p:par>
                        <p:par>
                          <p:cTn id="69" fill="hold">
                            <p:stCondLst>
                              <p:cond delay="1400"/>
                            </p:stCondLst>
                            <p:childTnLst>
                              <p:par>
                                <p:cTn id="70" presetID="10" presetClass="entr" presetSubtype="0" fill="hold" nodeType="withEffect">
                                  <p:stCondLst>
                                    <p:cond delay="0"/>
                                  </p:stCondLst>
                                  <p:childTnLst>
                                    <p:set>
                                      <p:cBhvr>
                                        <p:cTn id="71" dur="1" fill="hold">
                                          <p:stCondLst>
                                            <p:cond delay="0"/>
                                          </p:stCondLst>
                                        </p:cTn>
                                        <p:tgtEl>
                                          <p:spTgt spid="24"/>
                                        </p:tgtEl>
                                        <p:attrNameLst>
                                          <p:attrName>style.visibility</p:attrName>
                                        </p:attrNameLst>
                                      </p:cBhvr>
                                      <p:to>
                                        <p:strVal val="visible"/>
                                      </p:to>
                                    </p:set>
                                    <p:animEffect transition="in" filter="fade">
                                      <p:cBhvr>
                                        <p:cTn id="72" dur="600"/>
                                        <p:tgtEl>
                                          <p:spTgt spid="24"/>
                                        </p:tgtEl>
                                      </p:cBhvr>
                                    </p:animEffect>
                                  </p:childTnLst>
                                </p:cTn>
                              </p:par>
                              <p:par>
                                <p:cTn id="73" presetID="10" presetClass="entr" presetSubtype="0" fill="hold" nodeType="withEffect">
                                  <p:stCondLst>
                                    <p:cond delay="0"/>
                                  </p:stCondLst>
                                  <p:childTnLst>
                                    <p:set>
                                      <p:cBhvr>
                                        <p:cTn id="74" dur="1" fill="hold">
                                          <p:stCondLst>
                                            <p:cond delay="0"/>
                                          </p:stCondLst>
                                        </p:cTn>
                                        <p:tgtEl>
                                          <p:spTgt spid="25"/>
                                        </p:tgtEl>
                                        <p:attrNameLst>
                                          <p:attrName>style.visibility</p:attrName>
                                        </p:attrNameLst>
                                      </p:cBhvr>
                                      <p:to>
                                        <p:strVal val="visible"/>
                                      </p:to>
                                    </p:set>
                                    <p:animEffect transition="in" filter="fade">
                                      <p:cBhvr>
                                        <p:cTn id="75" dur="600"/>
                                        <p:tgtEl>
                                          <p:spTgt spid="25"/>
                                        </p:tgtEl>
                                      </p:cBhvr>
                                    </p:animEffect>
                                  </p:childTnLst>
                                </p:cTn>
                              </p:par>
                              <p:par>
                                <p:cTn id="76" presetID="10" presetClass="entr" presetSubtype="0" fill="hold" nodeType="withEffect">
                                  <p:stCondLst>
                                    <p:cond delay="0"/>
                                  </p:stCondLst>
                                  <p:childTnLst>
                                    <p:set>
                                      <p:cBhvr>
                                        <p:cTn id="77" dur="1" fill="hold">
                                          <p:stCondLst>
                                            <p:cond delay="0"/>
                                          </p:stCondLst>
                                        </p:cTn>
                                        <p:tgtEl>
                                          <p:spTgt spid="26"/>
                                        </p:tgtEl>
                                        <p:attrNameLst>
                                          <p:attrName>style.visibility</p:attrName>
                                        </p:attrNameLst>
                                      </p:cBhvr>
                                      <p:to>
                                        <p:strVal val="visible"/>
                                      </p:to>
                                    </p:set>
                                    <p:animEffect transition="in" filter="fade">
                                      <p:cBhvr>
                                        <p:cTn id="78" dur="600"/>
                                        <p:tgtEl>
                                          <p:spTgt spid="26"/>
                                        </p:tgtEl>
                                      </p:cBhvr>
                                    </p:animEffect>
                                  </p:childTnLst>
                                </p:cTn>
                              </p:par>
                              <p:par>
                                <p:cTn id="79" presetID="10" presetClass="entr" presetSubtype="0" fill="hold" nodeType="withEffect">
                                  <p:stCondLst>
                                    <p:cond delay="0"/>
                                  </p:stCondLst>
                                  <p:childTnLst>
                                    <p:set>
                                      <p:cBhvr>
                                        <p:cTn id="80" dur="1" fill="hold">
                                          <p:stCondLst>
                                            <p:cond delay="0"/>
                                          </p:stCondLst>
                                        </p:cTn>
                                        <p:tgtEl>
                                          <p:spTgt spid="27"/>
                                        </p:tgtEl>
                                        <p:attrNameLst>
                                          <p:attrName>style.visibility</p:attrName>
                                        </p:attrNameLst>
                                      </p:cBhvr>
                                      <p:to>
                                        <p:strVal val="visible"/>
                                      </p:to>
                                    </p:set>
                                    <p:animEffect transition="in" filter="fade">
                                      <p:cBhvr>
                                        <p:cTn id="81" dur="6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046720" cy="237744"/>
          </a:xfrm>
          <a:prstGeom prst="rect">
            <a:avLst/>
          </a:prstGeom>
          <a:noFill/>
          <a:ln/>
        </p:spPr>
        <p:txBody>
          <a:bodyPr wrap="square" lIns="0" tIns="0" rIns="0" bIns="0" rtlCol="0" anchor="t"/>
          <a:lstStyle/>
          <a:p>
            <a:pPr algn="l" indent="0" marL="0">
              <a:buNone/>
            </a:pPr>
            <a:r>
              <a:rPr lang="en-US" sz="1100" spc="300" kern="0" dirty="0">
                <a:solidFill>
                  <a:schemeClr val="tx1"/>
                </a:solidFill>
                <a:latin typeface="Courier New" pitchFamily="34" charset="0"/>
                <a:ea typeface="Courier New" pitchFamily="34" charset="-122"/>
                <a:cs typeface="Courier New" pitchFamily="34" charset="-120"/>
              </a:rPr>
              <a:t>VERIFIED, NOT CLAIMED</a:t>
            </a:r>
            <a:endParaRPr lang="en-US" sz="1100" dirty="0"/>
          </a:p>
        </p:txBody>
      </p:sp>
      <p:sp>
        <p:nvSpPr>
          <p:cNvPr id="3" name="Text 0"/>
          <p:cNvSpPr/>
          <p:nvPr>
            <p:ph idx="101" type="title" hasCustomPrompt="1"/>
          </p:nvPr>
        </p:nvSpPr>
        <p:spPr>
          <a:xfrm>
            <a:off x="548640" y="548640"/>
            <a:ext cx="8046720" cy="566928"/>
          </a:xfrm>
          <a:prstGeom prst="rect">
            <a:avLst/>
          </a:prstGeom>
          <a:noFill/>
          <a:ln/>
        </p:spPr>
        <p:txBody>
          <a:bodyPr wrap="square" lIns="0" tIns="0" rIns="0" bIns="0" rtlCol="0" anchor="t"/>
          <a:lstStyle/>
          <a:p>
            <a:pPr algn="l" indent="0" marL="0">
              <a:buNone/>
            </a:pPr>
            <a:r>
              <a:rPr lang="en-US" sz="3000" b="1" dirty="0">
                <a:solidFill>
                  <a:schemeClr val="tx1"/>
                </a:solidFill>
              </a:rPr>
              <a:t>Built to be trusted</a:t>
            </a:r>
            <a:endParaRPr lang="en-US" sz="3000" dirty="0"/>
          </a:p>
        </p:txBody>
      </p:sp>
      <p:sp>
        <p:nvSpPr>
          <p:cNvPr id="4" name="anim-01-n"/>
          <p:cNvSpPr txBox="1"/>
          <p:nvPr/>
        </p:nvSpPr>
        <p:spPr>
          <a:xfrm>
            <a:off x="548640" y="1371600"/>
            <a:ext cx="1874520" cy="914400"/>
          </a:xfrm>
          <a:prstGeom prst="rect">
            <a:avLst/>
          </a:prstGeom>
          <a:noFill/>
          <a:ln/>
        </p:spPr>
        <p:txBody>
          <a:bodyPr wrap="square" lIns="0" tIns="0" rIns="0" bIns="0" rtlCol="0" anchor="b"/>
          <a:lstStyle/>
          <a:p>
            <a:pPr indent="0" marL="0">
              <a:buNone/>
            </a:pPr>
            <a:r>
              <a:rPr lang="en-US" sz="6000" b="1" dirty="0">
                <a:solidFill>
                  <a:schemeClr val="tx1"/>
                </a:solidFill>
              </a:rPr>
              <a:t>104</a:t>
            </a:r>
            <a:endParaRPr lang="en-US" sz="6000" dirty="0"/>
          </a:p>
        </p:txBody>
      </p:sp>
      <p:sp>
        <p:nvSpPr>
          <p:cNvPr id="5" name="anim-01-bar"/>
          <p:cNvSpPr/>
          <p:nvPr/>
        </p:nvSpPr>
        <p:spPr>
          <a:xfrm>
            <a:off x="548640" y="2395728"/>
            <a:ext cx="1874520" cy="45720"/>
          </a:xfrm>
          <a:prstGeom prst="rect">
            <a:avLst/>
          </a:prstGeom>
          <a:solidFill>
            <a:schemeClr val="tx1"/>
          </a:solidFill>
          <a:ln w="12700">
            <a:solidFill>
              <a:schemeClr val="tx1"/>
            </a:solidFill>
            <a:prstDash val="solid"/>
          </a:ln>
        </p:spPr>
      </p:sp>
      <p:sp>
        <p:nvSpPr>
          <p:cNvPr id="6" name="anim-01-l"/>
          <p:cNvSpPr txBox="1"/>
          <p:nvPr/>
        </p:nvSpPr>
        <p:spPr>
          <a:xfrm>
            <a:off x="548640" y="2560320"/>
            <a:ext cx="1828800" cy="685800"/>
          </a:xfrm>
          <a:prstGeom prst="rect">
            <a:avLst/>
          </a:prstGeom>
          <a:noFill/>
          <a:ln/>
        </p:spPr>
        <p:txBody>
          <a:bodyPr wrap="square" lIns="0" tIns="0" rIns="0" bIns="0" rtlCol="0" anchor="t"/>
          <a:lstStyle/>
          <a:p>
            <a:pPr indent="0" marL="0">
              <a:buNone/>
            </a:pPr>
            <a:r>
              <a:rPr lang="en-US" sz="1400" dirty="0">
                <a:solidFill>
                  <a:schemeClr val="tx1"/>
                </a:solidFill>
              </a:rPr>
              <a:t>unit and integration tests passing</a:t>
            </a:r>
            <a:endParaRPr lang="en-US" sz="1400" dirty="0"/>
          </a:p>
        </p:txBody>
      </p:sp>
      <p:sp>
        <p:nvSpPr>
          <p:cNvPr id="7" name="anim-02-n"/>
          <p:cNvSpPr txBox="1"/>
          <p:nvPr/>
        </p:nvSpPr>
        <p:spPr>
          <a:xfrm>
            <a:off x="2606040" y="1371600"/>
            <a:ext cx="1874520" cy="914400"/>
          </a:xfrm>
          <a:prstGeom prst="rect">
            <a:avLst/>
          </a:prstGeom>
          <a:noFill/>
          <a:ln/>
        </p:spPr>
        <p:txBody>
          <a:bodyPr wrap="square" lIns="0" tIns="0" rIns="0" bIns="0" rtlCol="0" anchor="b"/>
          <a:lstStyle/>
          <a:p>
            <a:pPr indent="0" marL="0">
              <a:buNone/>
            </a:pPr>
            <a:r>
              <a:rPr lang="en-US" sz="6000" b="1" dirty="0">
                <a:solidFill>
                  <a:schemeClr val="tx1"/>
                </a:solidFill>
              </a:rPr>
              <a:t>14</a:t>
            </a:r>
            <a:endParaRPr lang="en-US" sz="6000" dirty="0"/>
          </a:p>
        </p:txBody>
      </p:sp>
      <p:sp>
        <p:nvSpPr>
          <p:cNvPr id="8" name="anim-02-bar"/>
          <p:cNvSpPr/>
          <p:nvPr/>
        </p:nvSpPr>
        <p:spPr>
          <a:xfrm>
            <a:off x="2606040" y="2395728"/>
            <a:ext cx="1874520" cy="45720"/>
          </a:xfrm>
          <a:prstGeom prst="rect">
            <a:avLst/>
          </a:prstGeom>
          <a:solidFill>
            <a:schemeClr val="tx1"/>
          </a:solidFill>
          <a:ln w="12700">
            <a:solidFill>
              <a:schemeClr val="tx1"/>
            </a:solidFill>
            <a:prstDash val="solid"/>
          </a:ln>
        </p:spPr>
      </p:sp>
      <p:sp>
        <p:nvSpPr>
          <p:cNvPr id="9" name="anim-02-l"/>
          <p:cNvSpPr txBox="1"/>
          <p:nvPr/>
        </p:nvSpPr>
        <p:spPr>
          <a:xfrm>
            <a:off x="2606040" y="2560320"/>
            <a:ext cx="1828800" cy="685800"/>
          </a:xfrm>
          <a:prstGeom prst="rect">
            <a:avLst/>
          </a:prstGeom>
          <a:noFill/>
          <a:ln/>
        </p:spPr>
        <p:txBody>
          <a:bodyPr wrap="square" lIns="0" tIns="0" rIns="0" bIns="0" rtlCol="0" anchor="t"/>
          <a:lstStyle/>
          <a:p>
            <a:pPr indent="0" marL="0">
              <a:buNone/>
            </a:pPr>
            <a:r>
              <a:rPr lang="en-US" sz="1400" dirty="0">
                <a:solidFill>
                  <a:schemeClr val="tx1"/>
                </a:solidFill>
              </a:rPr>
              <a:t>browser tests, including a real sandbox run</a:t>
            </a:r>
            <a:endParaRPr lang="en-US" sz="1400" dirty="0"/>
          </a:p>
        </p:txBody>
      </p:sp>
      <p:sp>
        <p:nvSpPr>
          <p:cNvPr id="10" name="anim-03-n"/>
          <p:cNvSpPr txBox="1"/>
          <p:nvPr/>
        </p:nvSpPr>
        <p:spPr>
          <a:xfrm>
            <a:off x="4663440" y="1371600"/>
            <a:ext cx="1874520" cy="914400"/>
          </a:xfrm>
          <a:prstGeom prst="rect">
            <a:avLst/>
          </a:prstGeom>
          <a:noFill/>
          <a:ln/>
        </p:spPr>
        <p:txBody>
          <a:bodyPr wrap="square" lIns="0" tIns="0" rIns="0" bIns="0" rtlCol="0" anchor="b"/>
          <a:lstStyle/>
          <a:p>
            <a:pPr indent="0" marL="0">
              <a:buNone/>
            </a:pPr>
            <a:r>
              <a:rPr lang="en-US" sz="6000" b="1" dirty="0">
                <a:solidFill>
                  <a:schemeClr val="tx1"/>
                </a:solidFill>
              </a:rPr>
              <a:t>0</a:t>
            </a:r>
            <a:endParaRPr lang="en-US" sz="6000" dirty="0"/>
          </a:p>
        </p:txBody>
      </p:sp>
      <p:sp>
        <p:nvSpPr>
          <p:cNvPr id="11" name="anim-03-bar"/>
          <p:cNvSpPr/>
          <p:nvPr/>
        </p:nvSpPr>
        <p:spPr>
          <a:xfrm>
            <a:off x="4663440" y="2395728"/>
            <a:ext cx="1874520" cy="45720"/>
          </a:xfrm>
          <a:prstGeom prst="rect">
            <a:avLst/>
          </a:prstGeom>
          <a:solidFill>
            <a:schemeClr val="tx1"/>
          </a:solidFill>
          <a:ln w="12700">
            <a:solidFill>
              <a:schemeClr val="tx1"/>
            </a:solidFill>
            <a:prstDash val="solid"/>
          </a:ln>
        </p:spPr>
      </p:sp>
      <p:sp>
        <p:nvSpPr>
          <p:cNvPr id="12" name="anim-03-l"/>
          <p:cNvSpPr txBox="1"/>
          <p:nvPr/>
        </p:nvSpPr>
        <p:spPr>
          <a:xfrm>
            <a:off x="4663440" y="2560320"/>
            <a:ext cx="1828800" cy="685800"/>
          </a:xfrm>
          <a:prstGeom prst="rect">
            <a:avLst/>
          </a:prstGeom>
          <a:noFill/>
          <a:ln/>
        </p:spPr>
        <p:txBody>
          <a:bodyPr wrap="square" lIns="0" tIns="0" rIns="0" bIns="0" rtlCol="0" anchor="t"/>
          <a:lstStyle/>
          <a:p>
            <a:pPr indent="0" marL="0">
              <a:buNone/>
            </a:pPr>
            <a:r>
              <a:rPr lang="en-US" sz="1400" dirty="0">
                <a:solidFill>
                  <a:schemeClr val="tx1"/>
                </a:solidFill>
              </a:rPr>
              <a:t>WCAG 2.1 AA violations in the axe scan, both themes</a:t>
            </a:r>
            <a:endParaRPr lang="en-US" sz="1400" dirty="0"/>
          </a:p>
        </p:txBody>
      </p:sp>
      <p:sp>
        <p:nvSpPr>
          <p:cNvPr id="13" name="anim-04-n"/>
          <p:cNvSpPr txBox="1"/>
          <p:nvPr/>
        </p:nvSpPr>
        <p:spPr>
          <a:xfrm>
            <a:off x="6720840" y="1371600"/>
            <a:ext cx="1874520" cy="914400"/>
          </a:xfrm>
          <a:prstGeom prst="rect">
            <a:avLst/>
          </a:prstGeom>
          <a:noFill/>
          <a:ln/>
        </p:spPr>
        <p:txBody>
          <a:bodyPr wrap="square" lIns="0" tIns="0" rIns="0" bIns="0" rtlCol="0" anchor="b"/>
          <a:lstStyle/>
          <a:p>
            <a:pPr indent="0" marL="0">
              <a:buNone/>
            </a:pPr>
            <a:r>
              <a:rPr lang="en-US" sz="6000" b="1" dirty="0">
                <a:solidFill>
                  <a:schemeClr val="tx1"/>
                </a:solidFill>
              </a:rPr>
              <a:t>6</a:t>
            </a:r>
            <a:endParaRPr lang="en-US" sz="6000" dirty="0"/>
          </a:p>
        </p:txBody>
      </p:sp>
      <p:sp>
        <p:nvSpPr>
          <p:cNvPr id="14" name="anim-04-bar"/>
          <p:cNvSpPr/>
          <p:nvPr/>
        </p:nvSpPr>
        <p:spPr>
          <a:xfrm>
            <a:off x="6720840" y="2395728"/>
            <a:ext cx="1874520" cy="45720"/>
          </a:xfrm>
          <a:prstGeom prst="rect">
            <a:avLst/>
          </a:prstGeom>
          <a:solidFill>
            <a:schemeClr val="tx1"/>
          </a:solidFill>
          <a:ln w="12700">
            <a:solidFill>
              <a:schemeClr val="tx1"/>
            </a:solidFill>
            <a:prstDash val="solid"/>
          </a:ln>
        </p:spPr>
      </p:sp>
      <p:sp>
        <p:nvSpPr>
          <p:cNvPr id="15" name="anim-04-l"/>
          <p:cNvSpPr txBox="1"/>
          <p:nvPr/>
        </p:nvSpPr>
        <p:spPr>
          <a:xfrm>
            <a:off x="6720840" y="2560320"/>
            <a:ext cx="1828800" cy="685800"/>
          </a:xfrm>
          <a:prstGeom prst="rect">
            <a:avLst/>
          </a:prstGeom>
          <a:noFill/>
          <a:ln/>
        </p:spPr>
        <p:txBody>
          <a:bodyPr wrap="square" lIns="0" tIns="0" rIns="0" bIns="0" rtlCol="0" anchor="t"/>
          <a:lstStyle/>
          <a:p>
            <a:pPr indent="0" marL="0">
              <a:buNone/>
            </a:pPr>
            <a:r>
              <a:rPr lang="en-US" sz="1400" dirty="0">
                <a:solidFill>
                  <a:schemeClr val="tx1"/>
                </a:solidFill>
              </a:rPr>
              <a:t>languages the Code Tutor runs</a:t>
            </a:r>
            <a:endParaRPr lang="en-US" sz="1400" dirty="0"/>
          </a:p>
        </p:txBody>
      </p:sp>
      <p:sp>
        <p:nvSpPr>
          <p:cNvPr id="16" name="anim-05"/>
          <p:cNvSpPr txBox="1"/>
          <p:nvPr/>
        </p:nvSpPr>
        <p:spPr>
          <a:xfrm>
            <a:off x="548640" y="3749040"/>
            <a:ext cx="8046720" cy="548640"/>
          </a:xfrm>
          <a:prstGeom prst="rect">
            <a:avLst/>
          </a:prstGeom>
          <a:noFill/>
          <a:ln/>
        </p:spPr>
        <p:txBody>
          <a:bodyPr wrap="square" lIns="0" tIns="0" rIns="0" bIns="0" rtlCol="0" anchor="t"/>
          <a:lstStyle/>
          <a:p>
            <a:pPr indent="0" marL="0">
              <a:buNone/>
            </a:pPr>
            <a:r>
              <a:rPr lang="en-US" sz="1400" dirty="0">
                <a:solidFill>
                  <a:schemeClr val="tx1"/>
                </a:solidFill>
              </a:rPr>
              <a:t>Gemma 4 26B A4B with Gemma 4 31B as fallback · lint and type-check clean · measured 28–29 Oct 2026 on the shipped code</a:t>
            </a:r>
            <a:endParaRPr lang="en-US" sz="1400" dirty="0"/>
          </a:p>
        </p:txBody>
      </p:sp>
      <p:sp>
        <p:nvSpPr>
          <p:cNvPr id="25" name="Slide Number Placeholder 0"/>
          <p:cNvSpPr>
            <a:spLocks noGrp="1"/>
          </p:cNvSpPr>
          <p:nvPr>
            <p:ph type="sldNum" sz="quarter" idx="4294967295"/>
          </p:nvPr>
        </p:nvSpPr>
        <p:spPr>
          <a:xfrm>
            <a:off x="8138160" y="473659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3A4712"/>
                </a:solidFill>
                <a:latin typeface="Courier New"/>
                <a:ea typeface="Courier New"/>
                <a:cs typeface="Courier New"/>
              </a:defRPr>
            </a:lvl1pPr>
          </a:lstStyle>
          <a:p>
            <a:pPr algn="r"/>
            <a:fld id="{F7021451-1387-4CA6-816F-3879F97B5CBC}" type="slidenum">
              <a:rPr b="0" lang="en-US"/>
              <a:t>12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600"/>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600"/>
                                        <p:tgtEl>
                                          <p:spTgt spid="6"/>
                                        </p:tgtEl>
                                      </p:cBhvr>
                                    </p:animEffect>
                                  </p:childTnLst>
                                </p:cTn>
                              </p:par>
                            </p:childTnLst>
                          </p:cTn>
                        </p:par>
                        <p:par>
                          <p:cTn id="14" fill="hold">
                            <p:stCondLst>
                              <p:cond delay="280"/>
                            </p:stCondLst>
                            <p:childTnLst>
                              <p:par>
                                <p:cTn id="15" presetID="10"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600"/>
                                        <p:tgtEl>
                                          <p:spTgt spid="7"/>
                                        </p:tgtEl>
                                      </p:cBhvr>
                                    </p:animEffect>
                                  </p:childTnLst>
                                </p:cTn>
                              </p:par>
                              <p:par>
                                <p:cTn id="18" presetID="10" presetClass="entr" presetSubtype="0" fill="hold"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600"/>
                                        <p:tgtEl>
                                          <p:spTgt spid="8"/>
                                        </p:tgtEl>
                                      </p:cBhvr>
                                    </p:animEffect>
                                  </p:childTnLst>
                                </p:cTn>
                              </p:par>
                              <p:par>
                                <p:cTn id="21" presetID="10" presetClass="entr" presetSubtype="0" fill="hold"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600"/>
                                        <p:tgtEl>
                                          <p:spTgt spid="9"/>
                                        </p:tgtEl>
                                      </p:cBhvr>
                                    </p:animEffect>
                                  </p:childTnLst>
                                </p:cTn>
                              </p:par>
                            </p:childTnLst>
                          </p:cTn>
                        </p:par>
                        <p:par>
                          <p:cTn id="24" fill="hold">
                            <p:stCondLst>
                              <p:cond delay="560"/>
                            </p:stCondLst>
                            <p:childTnLst>
                              <p:par>
                                <p:cTn id="25" presetID="10" presetClass="entr" presetSubtype="0" fill="hold"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600"/>
                                        <p:tgtEl>
                                          <p:spTgt spid="10"/>
                                        </p:tgtEl>
                                      </p:cBhvr>
                                    </p:animEffect>
                                  </p:childTnLst>
                                </p:cTn>
                              </p:par>
                              <p:par>
                                <p:cTn id="28" presetID="10" presetClass="entr" presetSubtype="0" fill="hold"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600"/>
                                        <p:tgtEl>
                                          <p:spTgt spid="11"/>
                                        </p:tgtEl>
                                      </p:cBhvr>
                                    </p:animEffect>
                                  </p:childTnLst>
                                </p:cTn>
                              </p:par>
                              <p:par>
                                <p:cTn id="31" presetID="10" presetClass="entr" presetSubtype="0" fill="hold" nodeType="with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600"/>
                                        <p:tgtEl>
                                          <p:spTgt spid="12"/>
                                        </p:tgtEl>
                                      </p:cBhvr>
                                    </p:animEffect>
                                  </p:childTnLst>
                                </p:cTn>
                              </p:par>
                            </p:childTnLst>
                          </p:cTn>
                        </p:par>
                        <p:par>
                          <p:cTn id="34" fill="hold">
                            <p:stCondLst>
                              <p:cond delay="840"/>
                            </p:stCondLst>
                            <p:childTnLst>
                              <p:par>
                                <p:cTn id="35" presetID="10" presetClass="entr" presetSubtype="0" fill="hold" nodeType="with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600"/>
                                        <p:tgtEl>
                                          <p:spTgt spid="13"/>
                                        </p:tgtEl>
                                      </p:cBhvr>
                                    </p:animEffect>
                                  </p:childTnLst>
                                </p:cTn>
                              </p:par>
                              <p:par>
                                <p:cTn id="38" presetID="10" presetClass="entr" presetSubtype="0" fill="hold" nodeType="with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600"/>
                                        <p:tgtEl>
                                          <p:spTgt spid="14"/>
                                        </p:tgtEl>
                                      </p:cBhvr>
                                    </p:animEffect>
                                  </p:childTnLst>
                                </p:cTn>
                              </p:par>
                              <p:par>
                                <p:cTn id="41" presetID="10" presetClass="entr" presetSubtype="0" fill="hold" nodeType="with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600"/>
                                        <p:tgtEl>
                                          <p:spTgt spid="15"/>
                                        </p:tgtEl>
                                      </p:cBhvr>
                                    </p:animEffect>
                                  </p:childTnLst>
                                </p:cTn>
                              </p:par>
                            </p:childTnLst>
                          </p:cTn>
                        </p:par>
                        <p:par>
                          <p:cTn id="44" fill="hold">
                            <p:stCondLst>
                              <p:cond delay="1120"/>
                            </p:stCondLst>
                            <p:childTnLst>
                              <p:par>
                                <p:cTn id="45" presetID="10" presetClass="entr" presetSubtype="0" fill="hold" nodeType="with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6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gif-close" descr="Animated repository graph">    </p:cNvPr>
          <p:cNvPicPr>
            <a:picLocks noChangeAspect="1"/>
          </p:cNvPicPr>
          <p:nvPr/>
        </p:nvPicPr>
        <p:blipFill>
          <a:blip r:embed="rId1"/>
          <a:stretch>
            <a:fillRect/>
          </a:stretch>
        </p:blipFill>
        <p:spPr>
          <a:xfrm>
            <a:off x="5120640" y="685800"/>
            <a:ext cx="3474720" cy="3474720"/>
          </a:xfrm>
          <a:prstGeom prst="rect">
            <a:avLst/>
          </a:prstGeom>
        </p:spPr>
      </p:pic>
      <p:sp>
        <p:nvSpPr>
          <p:cNvPr id="3" name="anim-01"/>
          <p:cNvSpPr txBox="1"/>
          <p:nvPr/>
        </p:nvSpPr>
        <p:spPr>
          <a:xfrm>
            <a:off x="548640" y="1097280"/>
            <a:ext cx="4389120" cy="274320"/>
          </a:xfrm>
          <a:prstGeom prst="rect">
            <a:avLst/>
          </a:prstGeom>
          <a:noFill/>
          <a:ln/>
        </p:spPr>
        <p:txBody>
          <a:bodyPr wrap="square" lIns="0" tIns="0" rIns="0" bIns="0" rtlCol="0" anchor="ctr"/>
          <a:lstStyle/>
          <a:p>
            <a:pPr indent="0" marL="0">
              <a:buNone/>
            </a:pPr>
            <a:r>
              <a:rPr lang="en-US" sz="1200" spc="300" kern="0" dirty="0">
                <a:solidFill>
                  <a:schemeClr val="accent1"/>
                </a:solidFill>
                <a:latin typeface="Courier New" pitchFamily="34" charset="0"/>
                <a:ea typeface="Courier New" pitchFamily="34" charset="-122"/>
                <a:cs typeface="Courier New" pitchFamily="34" charset="-120"/>
              </a:rPr>
              <a:t>TRY IT</a:t>
            </a:r>
            <a:endParaRPr lang="en-US" sz="1200" dirty="0"/>
          </a:p>
        </p:txBody>
      </p:sp>
      <p:sp>
        <p:nvSpPr>
          <p:cNvPr id="4" name="anim-02">
            <a:hlinkClick r:id="rId2" tooltip=""/>
          </p:cNvPr>
          <p:cNvSpPr txBox="1"/>
          <p:nvPr/>
        </p:nvSpPr>
        <p:spPr>
          <a:xfrm>
            <a:off x="548640" y="1463040"/>
            <a:ext cx="4572000" cy="548640"/>
          </a:xfrm>
          <a:prstGeom prst="rect">
            <a:avLst/>
          </a:prstGeom>
          <a:noFill/>
          <a:ln/>
        </p:spPr>
        <p:txBody>
          <a:bodyPr wrap="square" lIns="0" tIns="0" rIns="0" bIns="0" rtlCol="0" anchor="t"/>
          <a:lstStyle/>
          <a:p>
            <a:pPr indent="0" marL="0">
              <a:buNone/>
            </a:pPr>
            <a:r>
              <a:rPr lang="en-US" sz="2600" b="1" u="sng" dirty="0">
                <a:solidFill>
                  <a:schemeClr val="bg1"/>
                </a:solidFill>
                <a:hlinkClick r:id="rId2" invalidUrl="" action="" tgtFrame="" tooltip="" history="1" highlightClick="0" endSnd="0">
                  <a:extLst>
                    <a:ext uri="{A12FA001-AC4F-418D-AE19-62706E023703}">
                      <ahyp:hlinkClr xmlns:ahyp="http://schemas.microsoft.com/office/drawing/2018/hyperlinkcolor" val="tx"/>
                    </a:ext>
                  </a:extLst>
                </a:hlinkClick>
              </a:rPr>
              <a:t>codebasegpt.vercel.app</a:t>
            </a:r>
            <a:endParaRPr lang="en-US" sz="2600" dirty="0"/>
          </a:p>
        </p:txBody>
      </p:sp>
      <p:sp>
        <p:nvSpPr>
          <p:cNvPr id="5" name="anim-03"/>
          <p:cNvSpPr txBox="1"/>
          <p:nvPr/>
        </p:nvSpPr>
        <p:spPr>
          <a:xfrm>
            <a:off x="548640" y="2240280"/>
            <a:ext cx="4206240" cy="685800"/>
          </a:xfrm>
          <a:prstGeom prst="rect">
            <a:avLst/>
          </a:prstGeom>
          <a:noFill/>
          <a:ln/>
        </p:spPr>
        <p:txBody>
          <a:bodyPr wrap="square" lIns="0" tIns="0" rIns="0" bIns="0" rtlCol="0" anchor="t"/>
          <a:lstStyle/>
          <a:p>
            <a:pPr indent="0" marL="0">
              <a:buNone/>
            </a:pPr>
            <a:r>
              <a:rPr lang="en-US" sz="1600" dirty="0">
                <a:solidFill>
                  <a:schemeClr val="bg2"/>
                </a:solidFill>
              </a:rPr>
              <a:t>Sign in with email, GitHub or Google, import a repository, and ask your first question.</a:t>
            </a:r>
            <a:endParaRPr lang="en-US" sz="1600" dirty="0"/>
          </a:p>
        </p:txBody>
      </p:sp>
      <p:sp>
        <p:nvSpPr>
          <p:cNvPr id="6" name="anim-04"/>
          <p:cNvSpPr txBox="1"/>
          <p:nvPr/>
        </p:nvSpPr>
        <p:spPr>
          <a:xfrm>
            <a:off x="548640" y="3200400"/>
            <a:ext cx="4389120" cy="548640"/>
          </a:xfrm>
          <a:prstGeom prst="rect">
            <a:avLst/>
          </a:prstGeom>
          <a:noFill/>
          <a:ln/>
        </p:spPr>
        <p:txBody>
          <a:bodyPr wrap="square" lIns="0" tIns="0" rIns="0" bIns="0" rtlCol="0" anchor="t"/>
          <a:lstStyle/>
          <a:p>
            <a:pPr indent="0" marL="0">
              <a:buNone/>
            </a:pPr>
            <a:r>
              <a:rPr lang="en-US" sz="1100" dirty="0">
                <a:solidFill>
                  <a:schemeClr val="accent6"/>
                </a:solidFill>
                <a:latin typeface="Courier New" pitchFamily="34" charset="0"/>
                <a:ea typeface="Courier New" pitchFamily="34" charset="-122"/>
                <a:cs typeface="Courier New" pitchFamily="34" charset="-120"/>
              </a:rPr>
              <a:t>Next.js 16 · Better Auth · Drizzle · Neon · Gemma 4 · Vercel Sandbox · Resend</a:t>
            </a:r>
            <a:endParaRPr lang="en-US" sz="11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childTnLst>
                                </p:cTn>
                              </p:par>
                            </p:childTnLst>
                          </p:cTn>
                        </p:par>
                        <p:par>
                          <p:cTn id="8" fill="hold">
                            <p:stCondLst>
                              <p:cond delay="280"/>
                            </p:stCondLst>
                            <p:childTnLst>
                              <p:par>
                                <p:cTn id="9" presetID="10" presetClass="entr" presetSubtype="0" fill="hold" nodeType="with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600"/>
                                        <p:tgtEl>
                                          <p:spTgt spid="4"/>
                                        </p:tgtEl>
                                      </p:cBhvr>
                                    </p:animEffect>
                                  </p:childTnLst>
                                </p:cTn>
                              </p:par>
                            </p:childTnLst>
                          </p:cTn>
                        </p:par>
                        <p:par>
                          <p:cTn id="12" fill="hold">
                            <p:stCondLst>
                              <p:cond delay="560"/>
                            </p:stCondLst>
                            <p:childTnLst>
                              <p:par>
                                <p:cTn id="13" presetID="10"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600"/>
                                        <p:tgtEl>
                                          <p:spTgt spid="5"/>
                                        </p:tgtEl>
                                      </p:cBhvr>
                                    </p:animEffect>
                                  </p:childTnLst>
                                </p:cTn>
                              </p:par>
                            </p:childTnLst>
                          </p:cTn>
                        </p:par>
                        <p:par>
                          <p:cTn id="16" fill="hold">
                            <p:stCondLst>
                              <p:cond delay="840"/>
                            </p:stCondLst>
                            <p:childTnLst>
                              <p:par>
                                <p:cTn id="17" presetID="10" presetClass="entr" presetSubtype="0" fill="hold"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6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CodeBaseGPT">
  <a:themeElements>
    <a:clrScheme name="CodeBaseGPT">
      <a:dk1>
        <a:srgbClr val="0A0A0A"/>
      </a:dk1>
      <a:lt1>
        <a:srgbClr val="F2F2EE"/>
      </a:lt1>
      <a:dk2>
        <a:srgbClr val="121212"/>
      </a:dk2>
      <a:lt2>
        <a:srgbClr val="A3A39C"/>
      </a:lt2>
      <a:accent1>
        <a:srgbClr val="C8F135"/>
      </a:accent1>
      <a:accent2>
        <a:srgbClr val="F5A524"/>
      </a:accent2>
      <a:accent3>
        <a:srgbClr val="F87171"/>
      </a:accent3>
      <a:accent4>
        <a:srgbClr val="8B93FB"/>
      </a:accent4>
      <a:accent5>
        <a:srgbClr val="2A2A27"/>
      </a:accent5>
      <a:accent6>
        <a:srgbClr val="85857F"/>
      </a:accent6>
      <a:hlink>
        <a:srgbClr val="C8F135"/>
      </a:hlink>
      <a:folHlink>
        <a:srgbClr val="A3C92A"/>
      </a:folHlink>
    </a:clrScheme>
    <a:fontScheme name="CodeBaseGP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CodeBaseGPT</dc:title>
  <dc:subject>CodeBaseGPT product presentation</dc:subject>
  <dc:creator>Saad Rizwan</dc:creator>
  <cp:lastModifiedBy>Saad Rizwan</cp:lastModifiedBy>
  <cp:revision>1</cp:revision>
  <dcterms:created xsi:type="dcterms:W3CDTF">2026-10-29T09:49:33Z</dcterms:created>
  <dcterms:modified xsi:type="dcterms:W3CDTF">2026-10-29T09:49:33Z</dcterms:modified>
</cp:coreProperties>
</file>